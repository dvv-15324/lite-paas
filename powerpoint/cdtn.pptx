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70" r:id="rId3"/>
    <p:sldId id="269" r:id="rId4"/>
    <p:sldId id="260" r:id="rId5"/>
    <p:sldId id="272" r:id="rId6"/>
    <p:sldId id="271" r:id="rId7"/>
    <p:sldId id="268" r:id="rId8"/>
    <p:sldId id="261" r:id="rId9"/>
    <p:sldId id="267" r:id="rId10"/>
    <p:sldId id="264" r:id="rId11"/>
    <p:sldId id="262" r:id="rId12"/>
    <p:sldId id="263" r:id="rId13"/>
    <p:sldId id="265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FF"/>
    <a:srgbClr val="F2F2F2"/>
    <a:srgbClr val="1E2939"/>
    <a:srgbClr val="FFCCFF"/>
    <a:srgbClr val="4EA72E"/>
    <a:srgbClr val="99C194"/>
    <a:srgbClr val="64A0D9"/>
    <a:srgbClr val="333399"/>
    <a:srgbClr val="ADAE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A340A1-D1CD-48B8-AACC-52B41F2DB2E0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BAF415-2366-4C1E-BD71-85B087942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797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BAF415-2366-4C1E-BD71-85B087942B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756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C433C-C72B-ABD3-4E02-E6EADF462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D73EA-0A7B-8199-369C-927EC1FFC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09ABD0-67BF-47B4-2137-09CB9E2559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87BBB-09AC-9227-9DB3-3EE6455C89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BAF415-2366-4C1E-BD71-85B087942B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6016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5A00C-5368-E1E4-4FC5-D2202E812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101167-2E90-40C1-11DE-77C1EC1275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C78DE4-2658-835C-34A2-B964EDE00C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1B243-708A-69A5-5F97-36AADCB8A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BAF415-2366-4C1E-BD71-85B087942B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017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A6783-0A19-82F2-1E51-9129454E2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F1924-0A83-64DE-6941-CE93BD7729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CA3FD4-6770-236E-62CF-2B106654E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367DC-DA47-A46A-601E-7C10B7824C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BAF415-2366-4C1E-BD71-85B087942B9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15242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E982B-BF9A-9F30-0349-283048A36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6D0C0F-5AB8-5DD1-B4D6-00B2754FBD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1C6BB3-8021-F2F6-3D06-EDBCE4E99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B66C7-4F7F-A12E-3F2E-5D94A8012B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BAF415-2366-4C1E-BD71-85B087942B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9874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FA608-C550-FED6-08E8-53123AE16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02308D-783B-9DB9-C0C3-ACD01B605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FBA8F3-134C-2C19-2EAB-A063D54896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270BC-86A4-7FBE-0204-BE66CF5A1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BAF415-2366-4C1E-BD71-85B087942B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488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89140-6542-D88E-59CB-AD5D91DF9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8F1059-3857-709A-14FF-31205135DC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5F6FCF-CDBB-B5AA-A508-CAF4D594B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02C25-869A-785C-C23C-A9D1213D7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BAF415-2366-4C1E-BD71-85B087942B9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55503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47F12-209F-77DB-0EDC-13743FCEA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B0A6BD-C552-F6BE-EABE-405A25BB19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B33510-48B5-5DE1-4863-AFB19C2F1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3B95B-9AE6-3D28-BAC8-91E5D2CAB1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BAF415-2366-4C1E-BD71-85B087942B9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09305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D7BE1-F194-AC1F-2A3A-06B3F93ED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C20DA4-A486-2B21-DAB6-D0EE8FE99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6E9411-E2A1-6855-61A8-81F930C94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B12A8-0F60-6815-7CB7-241E7CA6A9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BAF415-2366-4C1E-BD71-85B087942B9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78350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44142-AFCF-BBE8-E5EA-D3BC3646F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5EEA5D-4225-7C11-E8F4-4AD88EC97E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B1B8FD-1B2E-98FE-1305-8BDB392F5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88EE9-F3A5-F791-4A95-C614FF232D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BAF415-2366-4C1E-BD71-85B087942B9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31585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58CE8-CD67-5EDA-3E16-654D07838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60BE6F-E5E2-D4D2-6FC0-14E8241C6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5F00E6-EFC5-09A2-6F7C-1F5870961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D2A69-1C79-B880-803F-D85E5EB116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BAF415-2366-4C1E-BD71-85B087942B9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72768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1CF2D-732B-26DF-C710-2449BEB64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F1E246-E018-205E-C460-19EBB58DD8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311FC6-F170-5573-E345-B5FFCA65C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4A254F-DDCE-E482-7E24-932C6D5A46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BAF415-2366-4C1E-BD71-85B087942B9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27445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EDD15-2AC4-DE7D-69B1-5F4D6C017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827144-BA9F-6D48-3D12-CCBC66AC34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1E62FA-EC41-521E-390A-8C3157A16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D2BEC-A824-FE0B-3833-54DE2D957C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BAF415-2366-4C1E-BD71-85B087942B9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7208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03916-EF40-824E-6133-0B106C94E6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9A375-0D9A-09C5-9A89-0609F68718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EAC66-4129-B762-0711-534249671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6D079-4E6C-4DA8-9955-F7EDD9539232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DE212-C828-F16A-2B4B-55114B00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337F1-841D-B731-BC4B-DC9B6EDC0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A4B3-6BAE-401B-857C-221AB35FD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934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99AC4-F158-6388-7741-70AA08C8C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60A84-BF30-81D9-99F7-1EF9A12BC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C9B02-0D44-808F-F783-F912C2B62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6D079-4E6C-4DA8-9955-F7EDD9539232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43437-9F97-53BE-3C78-EA87952CE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01BA8A-A031-830A-178A-DBCD92027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A4B3-6BAE-401B-857C-221AB35FD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907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50D75-F80B-E346-1A76-719CB3257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53C64-E03C-1B14-3C7A-5BB14C1E9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7E707D-2EBE-C6F8-0183-F745B2E3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6D079-4E6C-4DA8-9955-F7EDD9539232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0A85E-7704-3E26-DE4C-EC8241EAA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6C45D-9885-634C-7E76-796C06AD0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A4B3-6BAE-401B-857C-221AB35FD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833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30452-FF3D-B83C-51F2-C597C3256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101A3-1269-FB23-F45B-BABD3E7A12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1F0C5-7D63-07BD-0CB1-BF415959E6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49D86-0D69-8F1C-75D7-057DBAC15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6D079-4E6C-4DA8-9955-F7EDD9539232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8C237-CE35-684A-FCB7-6BCBA39FE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00173-E978-2314-C3A4-2C49FF664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A4B3-6BAE-401B-857C-221AB35FD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125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C6C99-8DC6-B7F7-59D7-6AF7A6226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049A0-7193-B963-85E4-4688F78E2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6852EA-AFE9-5AD8-BAC7-AA3923D085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4734C5-7B43-483C-B6C2-DE97CC278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52BC76-4736-B914-150A-C8E38327DD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679743-03DD-48CF-F8BA-DA7CD31C5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6D079-4E6C-4DA8-9955-F7EDD9539232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0C784-D856-4486-1A0A-686781DD5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262FD0-1BF1-E8F2-AD57-DCD06BDB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A4B3-6BAE-401B-857C-221AB35FD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0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4D74F-BC5A-2D55-99DD-9B5E46AE9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C32670-B2A7-EF42-1AFE-6B2CF4C4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6D079-4E6C-4DA8-9955-F7EDD9539232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3235F8-E6AB-FE64-9C7A-4647CC95A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D8064E-6D6B-B3DB-C7DD-299BC72FF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A4B3-6BAE-401B-857C-221AB35FD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937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2B7B1A-7352-FF56-3324-1519C57CC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6D079-4E6C-4DA8-9955-F7EDD9539232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653945-6CAE-0137-D2A9-BDB7B70D7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4851C-B7E8-0D49-2A75-A09F89C73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A4B3-6BAE-401B-857C-221AB35FD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942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FAA19-71A4-34C3-D631-0A0FF820E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F6EAE-ED85-9161-A974-0B4B9D576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4EAFCF-FD13-1E5A-E83D-6F1ABE944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DEEF0-5C6E-18C1-1CC3-838554CA7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6D079-4E6C-4DA8-9955-F7EDD9539232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A37CAA-B263-236B-B248-FB7B95937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C2BDA9-3271-32C2-65DD-37E38EB34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A4B3-6BAE-401B-857C-221AB35FD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958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88BE5-8E68-3710-CF6B-B20EF9656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8A8676-1DC6-4146-4BE4-93A66F5B45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2F3A86-E9DF-C8DF-78B0-9D313E4B7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5CCB0-0B6D-0C9F-8DF0-905DA67D1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6D079-4E6C-4DA8-9955-F7EDD9539232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A0E83-270B-51D7-BBB6-8C6964DCB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E94E8F-41EE-A56C-D50C-F33E01022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A4B3-6BAE-401B-857C-221AB35FD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031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664C0-6DA2-D344-C40C-396BD9FFC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B12A7D-0575-6A2E-53E5-74304061E4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CBB14-6EFF-60D2-1E20-5A12705D8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6D079-4E6C-4DA8-9955-F7EDD9539232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FE3D1-0D76-26D3-CE4F-2ED20E4E8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C27E4-7504-D255-792F-3F77A2E2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A4B3-6BAE-401B-857C-221AB35FD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627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9351D-AE49-CBF3-5939-EDE736D7EE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25D7EF-A7D3-774B-FF28-B7FE1E6056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AAE90-5D43-A0C6-9157-E1C021271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6D079-4E6C-4DA8-9955-F7EDD9539232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37B5A-A37F-CFF9-8EC3-6BEE5366A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FC871-8C88-881F-498A-0C4C9C218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6A4B3-6BAE-401B-857C-221AB35FD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256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498425-0E7D-EA99-0866-00A71232C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4B98F-CE53-A967-DAE0-D513A2E0C9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EB856-E6DE-C691-78C1-A7E17DD98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06D079-4E6C-4DA8-9955-F7EDD9539232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B7FD-2334-EA30-47E9-DBBDFC525D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915E1C-8D1B-C7A6-875A-E00E0912D8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F6A4B3-6BAE-401B-857C-221AB35FD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251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173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173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173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173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173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173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173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173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173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userid-sql-server-1.example.com/" TargetMode="Externa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173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userid-sql-server-1.example.com/" TargetMode="Externa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173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173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5173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71AC88A-5C66-F4D6-C4E4-AD6EFA9EAA72}"/>
              </a:ext>
            </a:extLst>
          </p:cNvPr>
          <p:cNvSpPr/>
          <p:nvPr/>
        </p:nvSpPr>
        <p:spPr>
          <a:xfrm>
            <a:off x="0" y="0"/>
            <a:ext cx="12192000" cy="412955"/>
          </a:xfrm>
          <a:prstGeom prst="rect">
            <a:avLst/>
          </a:prstGeom>
          <a:solidFill>
            <a:srgbClr val="1E2939"/>
          </a:solidFill>
          <a:ln>
            <a:solidFill>
              <a:srgbClr val="1E29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2C6B36-7125-8B33-7D60-A30B7AB44A66}"/>
              </a:ext>
            </a:extLst>
          </p:cNvPr>
          <p:cNvSpPr/>
          <p:nvPr/>
        </p:nvSpPr>
        <p:spPr>
          <a:xfrm>
            <a:off x="0" y="5712542"/>
            <a:ext cx="12192000" cy="1145458"/>
          </a:xfrm>
          <a:prstGeom prst="rect">
            <a:avLst/>
          </a:prstGeom>
          <a:solidFill>
            <a:srgbClr val="1018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B7408E9-1919-FACF-AE67-9B7EC7282332}"/>
              </a:ext>
            </a:extLst>
          </p:cNvPr>
          <p:cNvCxnSpPr>
            <a:cxnSpLocks/>
          </p:cNvCxnSpPr>
          <p:nvPr/>
        </p:nvCxnSpPr>
        <p:spPr>
          <a:xfrm>
            <a:off x="3667432" y="6587613"/>
            <a:ext cx="4857136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826B97B-566D-F40F-3C6C-486D2E65F851}"/>
              </a:ext>
            </a:extLst>
          </p:cNvPr>
          <p:cNvSpPr/>
          <p:nvPr/>
        </p:nvSpPr>
        <p:spPr>
          <a:xfrm>
            <a:off x="3651667" y="464079"/>
            <a:ext cx="4857136" cy="519364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3CA7F2-C634-CC8A-01EB-5E7495120CC2}"/>
              </a:ext>
            </a:extLst>
          </p:cNvPr>
          <p:cNvSpPr txBox="1"/>
          <p:nvPr/>
        </p:nvSpPr>
        <p:spPr>
          <a:xfrm>
            <a:off x="3834581" y="580103"/>
            <a:ext cx="4522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Bạn đang tìm kiếm một nền tảng đám </a:t>
            </a:r>
          </a:p>
          <a:p>
            <a:pPr algn="ctr"/>
            <a:r>
              <a:rPr lang="en-US" b="1"/>
              <a:t>mây đáng tin cậy?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AF5A75-302C-06A0-57E1-AF649559EE17}"/>
              </a:ext>
            </a:extLst>
          </p:cNvPr>
          <p:cNvSpPr/>
          <p:nvPr/>
        </p:nvSpPr>
        <p:spPr>
          <a:xfrm>
            <a:off x="3667432" y="5773751"/>
            <a:ext cx="1577693" cy="746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rgbClr val="04D7F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LitePaas</a:t>
            </a:r>
          </a:p>
          <a:p>
            <a:endParaRPr lang="en-US" sz="800">
              <a:solidFill>
                <a:srgbClr val="04D7F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500">
                <a:latin typeface="Arial" panose="020B0604020202020204" pitchFamily="34" charset="0"/>
                <a:cs typeface="Arial" panose="020B0604020202020204" pitchFamily="34" charset="0"/>
              </a:rPr>
              <a:t>Cung cấp dịch vụ đám mây và giải pháp triển khai ứng dụng nhanh chóng, an toàn và linh hoạt.</a:t>
            </a:r>
          </a:p>
          <a:p>
            <a:r>
              <a:rPr lang="en-US" sz="500">
                <a:latin typeface="Arial" panose="020B0604020202020204" pitchFamily="34" charset="0"/>
                <a:cs typeface="Arial" panose="020B0604020202020204" pitchFamily="34" charset="0"/>
              </a:rPr>
              <a:t>Đảm bảo hiệu suất ổn định, bảo mật tối đa, hỗ trợ kỹ thuật tận tâm.</a:t>
            </a:r>
          </a:p>
          <a:p>
            <a:endParaRPr lang="en-US" sz="800">
              <a:solidFill>
                <a:srgbClr val="04D7F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04F8A9-8EB2-6816-6594-C56EA0C37B91}"/>
              </a:ext>
            </a:extLst>
          </p:cNvPr>
          <p:cNvSpPr/>
          <p:nvPr/>
        </p:nvSpPr>
        <p:spPr>
          <a:xfrm>
            <a:off x="5307153" y="5773751"/>
            <a:ext cx="1577693" cy="74632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rgbClr val="04D7F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 trợ 24/7</a:t>
            </a: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500">
                <a:latin typeface="Arial" panose="020B0604020202020204" pitchFamily="34" charset="0"/>
                <a:cs typeface="Arial" panose="020B0604020202020204" pitchFamily="34" charset="0"/>
              </a:rPr>
              <a:t>Đội ngũ hỗ trợ kỹ thuật của chúng tôi luôn sẵn sàng hỗ trợ bạn 24/24h.</a:t>
            </a:r>
          </a:p>
          <a:p>
            <a:r>
              <a:rPr lang="en-US" sz="500">
                <a:latin typeface="Arial" panose="020B0604020202020204" pitchFamily="34" charset="0"/>
                <a:cs typeface="Arial" panose="020B0604020202020204" pitchFamily="34" charset="0"/>
              </a:rPr>
              <a:t>Email: support@LitePaas.vn</a:t>
            </a:r>
          </a:p>
          <a:p>
            <a:r>
              <a:rPr lang="en-US" sz="500">
                <a:latin typeface="Arial" panose="020B0604020202020204" pitchFamily="34" charset="0"/>
                <a:cs typeface="Arial" panose="020B0604020202020204" pitchFamily="34" charset="0"/>
              </a:rPr>
              <a:t>Hotline: 1900 1234</a:t>
            </a: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1BDCB4-5365-79BF-4298-5933B94DF396}"/>
              </a:ext>
            </a:extLst>
          </p:cNvPr>
          <p:cNvSpPr/>
          <p:nvPr/>
        </p:nvSpPr>
        <p:spPr>
          <a:xfrm>
            <a:off x="6941574" y="5773751"/>
            <a:ext cx="1577693" cy="74632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rgbClr val="04D7F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 nối với chúng tôi</a:t>
            </a: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  <a:hlinkClick r:id="rId3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3E0CC1-C71B-F751-CDD6-7BEE05ECED10}"/>
              </a:ext>
            </a:extLst>
          </p:cNvPr>
          <p:cNvSpPr txBox="1"/>
          <p:nvPr/>
        </p:nvSpPr>
        <p:spPr>
          <a:xfrm>
            <a:off x="3829281" y="1226434"/>
            <a:ext cx="45281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Dịch vụ đám mây của chúng tôi là giải pháp hoàn hảo cho bạn với hiệu suất ổn định, bảo mật tối đa và hỗ trợ kỹ thuật tận tâm.</a:t>
            </a:r>
          </a:p>
        </p:txBody>
      </p:sp>
      <p:sp>
        <p:nvSpPr>
          <p:cNvPr id="34" name="Flowchart: Terminator 33">
            <a:extLst>
              <a:ext uri="{FF2B5EF4-FFF2-40B4-BE49-F238E27FC236}">
                <a16:creationId xmlns:a16="http://schemas.microsoft.com/office/drawing/2014/main" id="{91F362B1-ACB7-62B2-9860-C43842F3474D}"/>
              </a:ext>
            </a:extLst>
          </p:cNvPr>
          <p:cNvSpPr/>
          <p:nvPr/>
        </p:nvSpPr>
        <p:spPr>
          <a:xfrm>
            <a:off x="7068270" y="6154948"/>
            <a:ext cx="419346" cy="228506"/>
          </a:xfrm>
          <a:prstGeom prst="flowChartTerminator">
            <a:avLst/>
          </a:prstGeom>
          <a:solidFill>
            <a:srgbClr val="F2F2F2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Zalo</a:t>
            </a:r>
          </a:p>
        </p:txBody>
      </p:sp>
      <p:sp>
        <p:nvSpPr>
          <p:cNvPr id="35" name="Flowchart: Terminator 34">
            <a:extLst>
              <a:ext uri="{FF2B5EF4-FFF2-40B4-BE49-F238E27FC236}">
                <a16:creationId xmlns:a16="http://schemas.microsoft.com/office/drawing/2014/main" id="{FDE0DE3A-C07E-51A2-A89F-3896D75A1B9B}"/>
              </a:ext>
            </a:extLst>
          </p:cNvPr>
          <p:cNvSpPr/>
          <p:nvPr/>
        </p:nvSpPr>
        <p:spPr>
          <a:xfrm>
            <a:off x="7544344" y="6146913"/>
            <a:ext cx="602770" cy="244576"/>
          </a:xfrm>
          <a:prstGeom prst="flowChartTerminator">
            <a:avLst/>
          </a:prstGeom>
          <a:solidFill>
            <a:srgbClr val="F2F2F2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Facebook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874547E-CD07-0ABA-44D6-8FBAFF469D74}"/>
              </a:ext>
            </a:extLst>
          </p:cNvPr>
          <p:cNvSpPr txBox="1"/>
          <p:nvPr/>
        </p:nvSpPr>
        <p:spPr>
          <a:xfrm>
            <a:off x="5388078" y="6642429"/>
            <a:ext cx="14158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">
                <a:solidFill>
                  <a:schemeClr val="bg1"/>
                </a:solidFill>
              </a:rPr>
              <a:t>© 2025 </a:t>
            </a:r>
            <a:r>
              <a:rPr lang="en-US" sz="400">
                <a:solidFill>
                  <a:schemeClr val="bg1"/>
                </a:solidFill>
              </a:rPr>
              <a:t>LitePaas</a:t>
            </a:r>
            <a:r>
              <a:rPr lang="vi-VN" sz="400">
                <a:solidFill>
                  <a:schemeClr val="bg1"/>
                </a:solidFill>
              </a:rPr>
              <a:t>. Tất cả các quyền được bảo lưu.</a:t>
            </a:r>
            <a:endParaRPr lang="en-US" sz="40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7A0EDA5-F61B-0628-8568-8E7D30FE692D}"/>
              </a:ext>
            </a:extLst>
          </p:cNvPr>
          <p:cNvSpPr txBox="1"/>
          <p:nvPr/>
        </p:nvSpPr>
        <p:spPr>
          <a:xfrm>
            <a:off x="5184428" y="3019914"/>
            <a:ext cx="18231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>
                <a:latin typeface="Arial" panose="020B0604020202020204" pitchFamily="34" charset="0"/>
                <a:cs typeface="Arial" panose="020B0604020202020204" pitchFamily="34" charset="0"/>
              </a:rPr>
              <a:t>Dịch vụ của chúng tôi</a:t>
            </a:r>
          </a:p>
        </p:txBody>
      </p:sp>
      <p:pic>
        <p:nvPicPr>
          <p:cNvPr id="39" name="Picture 38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1F4A6CF6-1AB8-8287-CDD3-0D960EC85F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280" y="85970"/>
            <a:ext cx="305581" cy="23330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2987899-1A58-7A95-C06F-4C852112DECB}"/>
              </a:ext>
            </a:extLst>
          </p:cNvPr>
          <p:cNvSpPr txBox="1"/>
          <p:nvPr/>
        </p:nvSpPr>
        <p:spPr>
          <a:xfrm>
            <a:off x="4074167" y="104532"/>
            <a:ext cx="6390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>
                <a:solidFill>
                  <a:schemeClr val="bg1"/>
                </a:solidFill>
              </a:rPr>
              <a:t>LitePaas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5AD4052-2949-060B-E40B-8EA73C518BA1}"/>
              </a:ext>
            </a:extLst>
          </p:cNvPr>
          <p:cNvSpPr/>
          <p:nvPr/>
        </p:nvSpPr>
        <p:spPr>
          <a:xfrm>
            <a:off x="4757490" y="1705024"/>
            <a:ext cx="799200" cy="9828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C5285DD-29E7-66B6-1426-9929303AD229}"/>
              </a:ext>
            </a:extLst>
          </p:cNvPr>
          <p:cNvSpPr txBox="1"/>
          <p:nvPr/>
        </p:nvSpPr>
        <p:spPr>
          <a:xfrm>
            <a:off x="4754577" y="2142345"/>
            <a:ext cx="8005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600" b="1"/>
              <a:t>Tốc độ vượt trội</a:t>
            </a:r>
            <a:endParaRPr lang="en-US" sz="600" b="1"/>
          </a:p>
          <a:p>
            <a:pPr algn="ctr"/>
            <a:endParaRPr lang="vi-VN" sz="600" b="1"/>
          </a:p>
          <a:p>
            <a:pPr algn="ctr"/>
            <a:r>
              <a:rPr lang="vi-VN" sz="400"/>
              <a:t>Triển khai mọi dạng siêu tốc, tối ưu hóa hiệu suất hoạt động cho doanh nghiệp của bạn.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287DE34-87F1-FC2E-BB8D-9A6CC14610DB}"/>
              </a:ext>
            </a:extLst>
          </p:cNvPr>
          <p:cNvSpPr/>
          <p:nvPr/>
        </p:nvSpPr>
        <p:spPr>
          <a:xfrm>
            <a:off x="5696400" y="1698894"/>
            <a:ext cx="799200" cy="9828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FA87F32-EBEF-18BA-0445-87906A47F596}"/>
              </a:ext>
            </a:extLst>
          </p:cNvPr>
          <p:cNvSpPr txBox="1"/>
          <p:nvPr/>
        </p:nvSpPr>
        <p:spPr>
          <a:xfrm>
            <a:off x="5710058" y="2144665"/>
            <a:ext cx="79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/>
              <a:t>Bảo mật tối đa</a:t>
            </a:r>
          </a:p>
          <a:p>
            <a:pPr algn="ctr"/>
            <a:endParaRPr lang="vi-VN" sz="600" b="1"/>
          </a:p>
          <a:p>
            <a:pPr algn="ctr"/>
            <a:r>
              <a:rPr lang="en-US" sz="400"/>
              <a:t>Hiệu suất ổn định &amp; bảo mật tối đa, bảo vệ dữ liệu của bạn 24/7.</a:t>
            </a:r>
            <a:endParaRPr lang="vi-VN" sz="40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61D11AF0-1EF2-38A2-C637-2B9F96D1830A}"/>
              </a:ext>
            </a:extLst>
          </p:cNvPr>
          <p:cNvSpPr/>
          <p:nvPr/>
        </p:nvSpPr>
        <p:spPr>
          <a:xfrm>
            <a:off x="6635310" y="1706988"/>
            <a:ext cx="799200" cy="9828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9E07936-3633-1499-24E1-0D8A67390D30}"/>
              </a:ext>
            </a:extLst>
          </p:cNvPr>
          <p:cNvSpPr txBox="1"/>
          <p:nvPr/>
        </p:nvSpPr>
        <p:spPr>
          <a:xfrm>
            <a:off x="6636716" y="2142345"/>
            <a:ext cx="8005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/>
              <a:t>Hỗ trợ tận tâm</a:t>
            </a:r>
          </a:p>
          <a:p>
            <a:pPr algn="ctr"/>
            <a:endParaRPr lang="vi-VN" sz="400" b="1"/>
          </a:p>
          <a:p>
            <a:pPr algn="ctr"/>
            <a:r>
              <a:rPr lang="en-US" sz="400"/>
              <a:t>Hỗ trợ kỹ thuật tận tâm, sẵn sàng giải quyết mọi vấn đề của bạn.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007A5659-B2DE-5879-CF1C-20F06457BAF1}"/>
              </a:ext>
            </a:extLst>
          </p:cNvPr>
          <p:cNvSpPr/>
          <p:nvPr/>
        </p:nvSpPr>
        <p:spPr>
          <a:xfrm>
            <a:off x="3851849" y="3427754"/>
            <a:ext cx="1414800" cy="9828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>
              <a:solidFill>
                <a:schemeClr val="tx1"/>
              </a:solidFill>
            </a:endParaRPr>
          </a:p>
          <a:p>
            <a:r>
              <a:rPr lang="vi-VN" sz="800" b="1">
                <a:solidFill>
                  <a:schemeClr val="tx1"/>
                </a:solidFill>
              </a:rPr>
              <a:t>Cloud Hosting</a:t>
            </a:r>
            <a:endParaRPr lang="en-US" sz="800" b="1">
              <a:solidFill>
                <a:schemeClr val="tx1"/>
              </a:solidFill>
            </a:endParaRPr>
          </a:p>
          <a:p>
            <a:endParaRPr lang="en-US" sz="800" b="1">
              <a:solidFill>
                <a:schemeClr val="tx1"/>
              </a:solidFill>
            </a:endParaRPr>
          </a:p>
          <a:p>
            <a:r>
              <a:rPr lang="vi-VN" sz="400">
                <a:solidFill>
                  <a:schemeClr val="tx1"/>
                </a:solidFill>
              </a:rPr>
              <a:t>Dịch vụ lưu trữ đám mây với hiệu suất cao và độ ổn định tuyệt đối.</a:t>
            </a:r>
            <a:endParaRPr lang="en-US" sz="400">
              <a:solidFill>
                <a:schemeClr val="tx1"/>
              </a:solidFill>
            </a:endParaRPr>
          </a:p>
          <a:p>
            <a:endParaRPr lang="en-US" sz="400">
              <a:solidFill>
                <a:schemeClr val="tx1"/>
              </a:solidFill>
            </a:endParaRPr>
          </a:p>
          <a:p>
            <a:endParaRPr lang="en-US" sz="400">
              <a:solidFill>
                <a:schemeClr val="tx1"/>
              </a:solidFill>
            </a:endParaRPr>
          </a:p>
          <a:p>
            <a:endParaRPr lang="en-US" sz="400">
              <a:solidFill>
                <a:schemeClr val="tx1"/>
              </a:solidFill>
            </a:endParaRPr>
          </a:p>
          <a:p>
            <a:endParaRPr lang="en-US" sz="400">
              <a:solidFill>
                <a:schemeClr val="tx1"/>
              </a:solidFill>
            </a:endParaRPr>
          </a:p>
          <a:p>
            <a:endParaRPr lang="en-US" sz="400">
              <a:solidFill>
                <a:schemeClr val="tx1"/>
              </a:solidFill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3272C3D2-9C6F-6B18-31D2-E0B16904A86B}"/>
              </a:ext>
            </a:extLst>
          </p:cNvPr>
          <p:cNvSpPr/>
          <p:nvPr/>
        </p:nvSpPr>
        <p:spPr>
          <a:xfrm>
            <a:off x="5388600" y="3429000"/>
            <a:ext cx="1414800" cy="9828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  <a:p>
            <a:r>
              <a:rPr lang="vi-VN" sz="800" b="1">
                <a:solidFill>
                  <a:schemeClr val="tx1"/>
                </a:solidFill>
              </a:rPr>
              <a:t>Cloud Storage</a:t>
            </a:r>
            <a:endParaRPr lang="en-US" sz="800" b="1">
              <a:solidFill>
                <a:schemeClr val="tx1"/>
              </a:solidFill>
            </a:endParaRPr>
          </a:p>
          <a:p>
            <a:endParaRPr lang="en-US" sz="800" b="1">
              <a:solidFill>
                <a:schemeClr val="tx1"/>
              </a:solidFill>
            </a:endParaRPr>
          </a:p>
          <a:p>
            <a:r>
              <a:rPr lang="vi-VN" sz="400">
                <a:solidFill>
                  <a:schemeClr val="tx1"/>
                </a:solidFill>
              </a:rPr>
              <a:t>Lưu trữ dữ liệu an toàn, truy cập mọi lúc mọi nơi với băng thông không giới hạn.</a:t>
            </a:r>
            <a:endParaRPr lang="en-US" sz="400">
              <a:solidFill>
                <a:schemeClr val="tx1"/>
              </a:solidFill>
            </a:endParaRPr>
          </a:p>
          <a:p>
            <a:endParaRPr lang="en-US" sz="400">
              <a:solidFill>
                <a:schemeClr val="tx1"/>
              </a:solidFill>
            </a:endParaRPr>
          </a:p>
          <a:p>
            <a:endParaRPr lang="en-US" sz="400">
              <a:solidFill>
                <a:schemeClr val="tx1"/>
              </a:solidFill>
            </a:endParaRPr>
          </a:p>
          <a:p>
            <a:endParaRPr lang="en-US" sz="400">
              <a:solidFill>
                <a:schemeClr val="tx1"/>
              </a:solidFill>
            </a:endParaRPr>
          </a:p>
          <a:p>
            <a:endParaRPr lang="en-US" sz="400">
              <a:solidFill>
                <a:schemeClr val="tx1"/>
              </a:solidFill>
            </a:endParaRPr>
          </a:p>
          <a:p>
            <a:endParaRPr lang="vi-VN" sz="400">
              <a:solidFill>
                <a:schemeClr val="tx1"/>
              </a:solidFill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3B8A94DB-380F-E60B-7856-79AB5CFD1C00}"/>
              </a:ext>
            </a:extLst>
          </p:cNvPr>
          <p:cNvSpPr/>
          <p:nvPr/>
        </p:nvSpPr>
        <p:spPr>
          <a:xfrm>
            <a:off x="6925351" y="3427754"/>
            <a:ext cx="1414800" cy="9828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  <a:p>
            <a:r>
              <a:rPr lang="vi-VN" sz="800" b="1">
                <a:solidFill>
                  <a:schemeClr val="tx1"/>
                </a:solidFill>
              </a:rPr>
              <a:t>Cloud Database</a:t>
            </a:r>
            <a:endParaRPr lang="en-US" sz="800" b="1">
              <a:solidFill>
                <a:schemeClr val="tx1"/>
              </a:solidFill>
            </a:endParaRPr>
          </a:p>
          <a:p>
            <a:endParaRPr lang="vi-VN" sz="800" b="1">
              <a:solidFill>
                <a:schemeClr val="tx1"/>
              </a:solidFill>
            </a:endParaRPr>
          </a:p>
          <a:p>
            <a:r>
              <a:rPr lang="vi-VN" sz="400">
                <a:solidFill>
                  <a:schemeClr val="tx1"/>
                </a:solidFill>
              </a:rPr>
              <a:t>Cơ sở dữ liệu đám mây với khả năng mở rộng linh hoạt và bảo mật cao.</a:t>
            </a:r>
            <a:endParaRPr lang="en-US" sz="400">
              <a:solidFill>
                <a:schemeClr val="tx1"/>
              </a:solidFill>
            </a:endParaRPr>
          </a:p>
          <a:p>
            <a:endParaRPr lang="en-US" sz="400">
              <a:solidFill>
                <a:schemeClr val="tx1"/>
              </a:solidFill>
            </a:endParaRPr>
          </a:p>
          <a:p>
            <a:endParaRPr lang="en-US" sz="400">
              <a:solidFill>
                <a:schemeClr val="tx1"/>
              </a:solidFill>
            </a:endParaRPr>
          </a:p>
          <a:p>
            <a:endParaRPr lang="en-US" sz="400">
              <a:solidFill>
                <a:schemeClr val="tx1"/>
              </a:solidFill>
            </a:endParaRPr>
          </a:p>
          <a:p>
            <a:endParaRPr lang="en-US" sz="400">
              <a:solidFill>
                <a:schemeClr val="tx1"/>
              </a:solidFill>
            </a:endParaRPr>
          </a:p>
          <a:p>
            <a:endParaRPr lang="vi-VN" sz="400">
              <a:solidFill>
                <a:schemeClr val="tx1"/>
              </a:solidFill>
            </a:endParaRPr>
          </a:p>
        </p:txBody>
      </p:sp>
      <p:sp>
        <p:nvSpPr>
          <p:cNvPr id="57" name="Flowchart: Terminator 56">
            <a:extLst>
              <a:ext uri="{FF2B5EF4-FFF2-40B4-BE49-F238E27FC236}">
                <a16:creationId xmlns:a16="http://schemas.microsoft.com/office/drawing/2014/main" id="{0C0794D4-D48F-A9AC-0367-A1E09139797F}"/>
              </a:ext>
            </a:extLst>
          </p:cNvPr>
          <p:cNvSpPr/>
          <p:nvPr/>
        </p:nvSpPr>
        <p:spPr>
          <a:xfrm>
            <a:off x="3939962" y="4150428"/>
            <a:ext cx="563880" cy="187960"/>
          </a:xfrm>
          <a:prstGeom prst="flowChartTermina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/>
              <a:t>Tìm hiểu thêm</a:t>
            </a:r>
          </a:p>
        </p:txBody>
      </p:sp>
      <p:sp>
        <p:nvSpPr>
          <p:cNvPr id="58" name="Flowchart: Terminator 57">
            <a:extLst>
              <a:ext uri="{FF2B5EF4-FFF2-40B4-BE49-F238E27FC236}">
                <a16:creationId xmlns:a16="http://schemas.microsoft.com/office/drawing/2014/main" id="{73D10236-C503-69C2-2F4B-C2A5B76E9AA7}"/>
              </a:ext>
            </a:extLst>
          </p:cNvPr>
          <p:cNvSpPr/>
          <p:nvPr/>
        </p:nvSpPr>
        <p:spPr>
          <a:xfrm>
            <a:off x="4625793" y="4147854"/>
            <a:ext cx="519743" cy="182880"/>
          </a:xfrm>
          <a:prstGeom prst="flowChartTermina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/>
              <a:t>Chi tiết</a:t>
            </a:r>
          </a:p>
        </p:txBody>
      </p:sp>
      <p:sp>
        <p:nvSpPr>
          <p:cNvPr id="59" name="Flowchart: Terminator 58">
            <a:extLst>
              <a:ext uri="{FF2B5EF4-FFF2-40B4-BE49-F238E27FC236}">
                <a16:creationId xmlns:a16="http://schemas.microsoft.com/office/drawing/2014/main" id="{E26994A3-8613-723C-9B27-62449384A0FF}"/>
              </a:ext>
            </a:extLst>
          </p:cNvPr>
          <p:cNvSpPr/>
          <p:nvPr/>
        </p:nvSpPr>
        <p:spPr>
          <a:xfrm>
            <a:off x="5492450" y="4149090"/>
            <a:ext cx="563880" cy="187960"/>
          </a:xfrm>
          <a:prstGeom prst="flowChartTermina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/>
              <a:t>Tìm hiểu thêm</a:t>
            </a:r>
          </a:p>
        </p:txBody>
      </p:sp>
      <p:sp>
        <p:nvSpPr>
          <p:cNvPr id="60" name="Flowchart: Terminator 59">
            <a:extLst>
              <a:ext uri="{FF2B5EF4-FFF2-40B4-BE49-F238E27FC236}">
                <a16:creationId xmlns:a16="http://schemas.microsoft.com/office/drawing/2014/main" id="{2070BBEB-93AB-0DF6-FCF5-87F3C96C97B4}"/>
              </a:ext>
            </a:extLst>
          </p:cNvPr>
          <p:cNvSpPr/>
          <p:nvPr/>
        </p:nvSpPr>
        <p:spPr>
          <a:xfrm>
            <a:off x="6163383" y="4152900"/>
            <a:ext cx="519743" cy="182880"/>
          </a:xfrm>
          <a:prstGeom prst="flowChartTermina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/>
              <a:t>Chi tiết</a:t>
            </a:r>
          </a:p>
        </p:txBody>
      </p:sp>
      <p:sp>
        <p:nvSpPr>
          <p:cNvPr id="61" name="Flowchart: Terminator 60">
            <a:extLst>
              <a:ext uri="{FF2B5EF4-FFF2-40B4-BE49-F238E27FC236}">
                <a16:creationId xmlns:a16="http://schemas.microsoft.com/office/drawing/2014/main" id="{2549EF49-67E3-3460-6761-D1AD0FF584F5}"/>
              </a:ext>
            </a:extLst>
          </p:cNvPr>
          <p:cNvSpPr/>
          <p:nvPr/>
        </p:nvSpPr>
        <p:spPr>
          <a:xfrm>
            <a:off x="7017506" y="4156022"/>
            <a:ext cx="563880" cy="187960"/>
          </a:xfrm>
          <a:prstGeom prst="flowChartTermina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/>
              <a:t>Tìm hiểu thêm</a:t>
            </a:r>
          </a:p>
        </p:txBody>
      </p:sp>
      <p:sp>
        <p:nvSpPr>
          <p:cNvPr id="62" name="Flowchart: Terminator 61">
            <a:extLst>
              <a:ext uri="{FF2B5EF4-FFF2-40B4-BE49-F238E27FC236}">
                <a16:creationId xmlns:a16="http://schemas.microsoft.com/office/drawing/2014/main" id="{718BD387-06B6-8327-F9B4-CAED636E1848}"/>
              </a:ext>
            </a:extLst>
          </p:cNvPr>
          <p:cNvSpPr/>
          <p:nvPr/>
        </p:nvSpPr>
        <p:spPr>
          <a:xfrm>
            <a:off x="7703337" y="4147854"/>
            <a:ext cx="519743" cy="182880"/>
          </a:xfrm>
          <a:prstGeom prst="flowChartTermina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/>
              <a:t>Chi tiết</a:t>
            </a:r>
          </a:p>
        </p:txBody>
      </p: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7454C00B-2C04-BE1D-4D65-9EC9F915E39B}"/>
              </a:ext>
            </a:extLst>
          </p:cNvPr>
          <p:cNvSpPr/>
          <p:nvPr/>
        </p:nvSpPr>
        <p:spPr>
          <a:xfrm>
            <a:off x="7649496" y="85970"/>
            <a:ext cx="859307" cy="223747"/>
          </a:xfrm>
          <a:prstGeom prst="flowChartTerminator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/>
              <a:t>Đăng nhập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96DCEBB-B8C2-EBBC-798D-2686760CE5A8}"/>
              </a:ext>
            </a:extLst>
          </p:cNvPr>
          <p:cNvSpPr/>
          <p:nvPr/>
        </p:nvSpPr>
        <p:spPr>
          <a:xfrm>
            <a:off x="4913376" y="1822704"/>
            <a:ext cx="474702" cy="27880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B96487-2FEA-9581-9E52-1B78073A7E7E}"/>
              </a:ext>
            </a:extLst>
          </p:cNvPr>
          <p:cNvSpPr/>
          <p:nvPr/>
        </p:nvSpPr>
        <p:spPr>
          <a:xfrm>
            <a:off x="5872307" y="1806111"/>
            <a:ext cx="474702" cy="27880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196F430-9A89-7578-AD77-F0B63B493BF5}"/>
              </a:ext>
            </a:extLst>
          </p:cNvPr>
          <p:cNvSpPr/>
          <p:nvPr/>
        </p:nvSpPr>
        <p:spPr>
          <a:xfrm>
            <a:off x="6786578" y="1806111"/>
            <a:ext cx="474702" cy="27880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951056F-EDB8-0C40-053C-B1D2ADE0AA18}"/>
              </a:ext>
            </a:extLst>
          </p:cNvPr>
          <p:cNvSpPr/>
          <p:nvPr/>
        </p:nvSpPr>
        <p:spPr>
          <a:xfrm>
            <a:off x="5495572" y="3476318"/>
            <a:ext cx="278818" cy="19534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AD201C-730D-3DC2-68A5-58F2B047A3B3}"/>
              </a:ext>
            </a:extLst>
          </p:cNvPr>
          <p:cNvSpPr/>
          <p:nvPr/>
        </p:nvSpPr>
        <p:spPr>
          <a:xfrm>
            <a:off x="3982070" y="3476319"/>
            <a:ext cx="278818" cy="19534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BD5D2F1-198D-F628-F7C1-F50A640C8257}"/>
              </a:ext>
            </a:extLst>
          </p:cNvPr>
          <p:cNvSpPr/>
          <p:nvPr/>
        </p:nvSpPr>
        <p:spPr>
          <a:xfrm>
            <a:off x="7052561" y="3462228"/>
            <a:ext cx="278818" cy="19534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928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0EB339-A0E5-9467-7443-44F894B2E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3C8D066-BE5E-AE95-06DF-C63D7D2D50C6}"/>
              </a:ext>
            </a:extLst>
          </p:cNvPr>
          <p:cNvSpPr/>
          <p:nvPr/>
        </p:nvSpPr>
        <p:spPr>
          <a:xfrm>
            <a:off x="0" y="0"/>
            <a:ext cx="12192000" cy="412955"/>
          </a:xfrm>
          <a:prstGeom prst="rect">
            <a:avLst/>
          </a:prstGeom>
          <a:solidFill>
            <a:srgbClr val="1E2939"/>
          </a:solidFill>
          <a:ln>
            <a:solidFill>
              <a:srgbClr val="1E29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935F3E-B906-A593-C26F-B5F2D8917746}"/>
              </a:ext>
            </a:extLst>
          </p:cNvPr>
          <p:cNvSpPr/>
          <p:nvPr/>
        </p:nvSpPr>
        <p:spPr>
          <a:xfrm>
            <a:off x="0" y="5712542"/>
            <a:ext cx="12192000" cy="1145458"/>
          </a:xfrm>
          <a:prstGeom prst="rect">
            <a:avLst/>
          </a:prstGeom>
          <a:solidFill>
            <a:srgbClr val="1018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8A799E5-EE45-9EBB-A08E-59DF5419AD01}"/>
              </a:ext>
            </a:extLst>
          </p:cNvPr>
          <p:cNvCxnSpPr>
            <a:cxnSpLocks/>
          </p:cNvCxnSpPr>
          <p:nvPr/>
        </p:nvCxnSpPr>
        <p:spPr>
          <a:xfrm>
            <a:off x="3667432" y="6587613"/>
            <a:ext cx="4857136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72A51E9-E0D7-A51B-593B-6F716ED292F7}"/>
              </a:ext>
            </a:extLst>
          </p:cNvPr>
          <p:cNvSpPr/>
          <p:nvPr/>
        </p:nvSpPr>
        <p:spPr>
          <a:xfrm>
            <a:off x="3651667" y="464079"/>
            <a:ext cx="4857136" cy="519364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F6A770-3145-64AF-ED6C-403B55FB2DEF}"/>
              </a:ext>
            </a:extLst>
          </p:cNvPr>
          <p:cNvSpPr/>
          <p:nvPr/>
        </p:nvSpPr>
        <p:spPr>
          <a:xfrm>
            <a:off x="3667432" y="5773751"/>
            <a:ext cx="1577693" cy="746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rgbClr val="04D7F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LitePaas</a:t>
            </a:r>
          </a:p>
          <a:p>
            <a:endParaRPr lang="en-US" sz="800">
              <a:solidFill>
                <a:srgbClr val="04D7F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500">
                <a:latin typeface="Arial" panose="020B0604020202020204" pitchFamily="34" charset="0"/>
                <a:cs typeface="Arial" panose="020B0604020202020204" pitchFamily="34" charset="0"/>
              </a:rPr>
              <a:t>Cung cấp dịch vụ đám mây và giải pháp triển khai ứng dụng nhanh chóng, an toàn và linh hoạt.</a:t>
            </a:r>
          </a:p>
          <a:p>
            <a:r>
              <a:rPr lang="en-US" sz="500">
                <a:latin typeface="Arial" panose="020B0604020202020204" pitchFamily="34" charset="0"/>
                <a:cs typeface="Arial" panose="020B0604020202020204" pitchFamily="34" charset="0"/>
              </a:rPr>
              <a:t>Đảm bảo hiệu suất ổn định, bảo mật tối đa, hỗ trợ kỹ thuật tận tâm.</a:t>
            </a:r>
          </a:p>
          <a:p>
            <a:endParaRPr lang="en-US" sz="800">
              <a:solidFill>
                <a:srgbClr val="04D7F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BDE0180-EED6-4569-6E41-AC34F2E812FA}"/>
              </a:ext>
            </a:extLst>
          </p:cNvPr>
          <p:cNvSpPr/>
          <p:nvPr/>
        </p:nvSpPr>
        <p:spPr>
          <a:xfrm>
            <a:off x="5307153" y="5773751"/>
            <a:ext cx="1577693" cy="74632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rgbClr val="04D7F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 trợ 24/7</a:t>
            </a: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500">
                <a:latin typeface="Arial" panose="020B0604020202020204" pitchFamily="34" charset="0"/>
                <a:cs typeface="Arial" panose="020B0604020202020204" pitchFamily="34" charset="0"/>
              </a:rPr>
              <a:t>Đội ngũ hỗ trợ kỹ thuật của chúng tôi luôn sẵn sàng hỗ trợ bạn 24/24h.</a:t>
            </a:r>
          </a:p>
          <a:p>
            <a:r>
              <a:rPr lang="en-US" sz="500">
                <a:latin typeface="Arial" panose="020B0604020202020204" pitchFamily="34" charset="0"/>
                <a:cs typeface="Arial" panose="020B0604020202020204" pitchFamily="34" charset="0"/>
              </a:rPr>
              <a:t>Email: support@LitePaas.vn</a:t>
            </a:r>
          </a:p>
          <a:p>
            <a:r>
              <a:rPr lang="en-US" sz="500">
                <a:latin typeface="Arial" panose="020B0604020202020204" pitchFamily="34" charset="0"/>
                <a:cs typeface="Arial" panose="020B0604020202020204" pitchFamily="34" charset="0"/>
              </a:rPr>
              <a:t>Hotline: 1900 1234</a:t>
            </a: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3AC426D-1398-8283-B794-5C3A723FC7B1}"/>
              </a:ext>
            </a:extLst>
          </p:cNvPr>
          <p:cNvSpPr/>
          <p:nvPr/>
        </p:nvSpPr>
        <p:spPr>
          <a:xfrm>
            <a:off x="6941574" y="5773751"/>
            <a:ext cx="1577693" cy="74632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rgbClr val="04D7F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 nối với chúng tôi</a:t>
            </a: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  <a:hlinkClick r:id="rId3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Flowchart: Terminator 33">
            <a:extLst>
              <a:ext uri="{FF2B5EF4-FFF2-40B4-BE49-F238E27FC236}">
                <a16:creationId xmlns:a16="http://schemas.microsoft.com/office/drawing/2014/main" id="{F9623D94-54A2-330C-C74D-3CD4C4470F8D}"/>
              </a:ext>
            </a:extLst>
          </p:cNvPr>
          <p:cNvSpPr/>
          <p:nvPr/>
        </p:nvSpPr>
        <p:spPr>
          <a:xfrm>
            <a:off x="7068270" y="6154948"/>
            <a:ext cx="419346" cy="228506"/>
          </a:xfrm>
          <a:prstGeom prst="flowChartTerminator">
            <a:avLst/>
          </a:prstGeom>
          <a:solidFill>
            <a:srgbClr val="F2F2F2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Zalo</a:t>
            </a:r>
          </a:p>
        </p:txBody>
      </p:sp>
      <p:sp>
        <p:nvSpPr>
          <p:cNvPr id="35" name="Flowchart: Terminator 34">
            <a:extLst>
              <a:ext uri="{FF2B5EF4-FFF2-40B4-BE49-F238E27FC236}">
                <a16:creationId xmlns:a16="http://schemas.microsoft.com/office/drawing/2014/main" id="{18CE7D6B-2066-245D-FFB4-E1FC52A99825}"/>
              </a:ext>
            </a:extLst>
          </p:cNvPr>
          <p:cNvSpPr/>
          <p:nvPr/>
        </p:nvSpPr>
        <p:spPr>
          <a:xfrm>
            <a:off x="7544344" y="6146913"/>
            <a:ext cx="602770" cy="244576"/>
          </a:xfrm>
          <a:prstGeom prst="flowChartTerminator">
            <a:avLst/>
          </a:prstGeom>
          <a:solidFill>
            <a:srgbClr val="F2F2F2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Facebook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1BD47A-FB6B-0815-7622-0B8FA546B3BA}"/>
              </a:ext>
            </a:extLst>
          </p:cNvPr>
          <p:cNvSpPr txBox="1"/>
          <p:nvPr/>
        </p:nvSpPr>
        <p:spPr>
          <a:xfrm>
            <a:off x="5388078" y="6642429"/>
            <a:ext cx="14158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">
                <a:solidFill>
                  <a:schemeClr val="bg1"/>
                </a:solidFill>
              </a:rPr>
              <a:t>© 2025 </a:t>
            </a:r>
            <a:r>
              <a:rPr lang="en-US" sz="400">
                <a:solidFill>
                  <a:schemeClr val="bg1"/>
                </a:solidFill>
              </a:rPr>
              <a:t>LitePaas</a:t>
            </a:r>
            <a:r>
              <a:rPr lang="vi-VN" sz="400">
                <a:solidFill>
                  <a:schemeClr val="bg1"/>
                </a:solidFill>
              </a:rPr>
              <a:t>. Tất cả các quyền được bảo lưu.</a:t>
            </a:r>
            <a:endParaRPr lang="en-US" sz="400">
              <a:solidFill>
                <a:schemeClr val="bg1"/>
              </a:solidFill>
            </a:endParaRPr>
          </a:p>
        </p:txBody>
      </p:sp>
      <p:pic>
        <p:nvPicPr>
          <p:cNvPr id="39" name="Picture 38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9F13A08A-3427-8431-6662-28B4BC1327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280" y="85970"/>
            <a:ext cx="305581" cy="23330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28F7997-9AFE-D47D-6EC6-E526C1E7FFC1}"/>
              </a:ext>
            </a:extLst>
          </p:cNvPr>
          <p:cNvSpPr txBox="1"/>
          <p:nvPr/>
        </p:nvSpPr>
        <p:spPr>
          <a:xfrm>
            <a:off x="4074167" y="104532"/>
            <a:ext cx="6390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>
                <a:solidFill>
                  <a:schemeClr val="bg1"/>
                </a:solidFill>
              </a:rPr>
              <a:t>LitePaas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22CD28-4D3C-89B1-4F5E-4DBFD6F00965}"/>
              </a:ext>
            </a:extLst>
          </p:cNvPr>
          <p:cNvSpPr/>
          <p:nvPr/>
        </p:nvSpPr>
        <p:spPr>
          <a:xfrm>
            <a:off x="4705381" y="3037032"/>
            <a:ext cx="2732034" cy="193826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1A2172-D102-16B3-7590-906B048E9492}"/>
              </a:ext>
            </a:extLst>
          </p:cNvPr>
          <p:cNvSpPr txBox="1"/>
          <p:nvPr/>
        </p:nvSpPr>
        <p:spPr>
          <a:xfrm>
            <a:off x="4611680" y="2875755"/>
            <a:ext cx="6748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/>
              <a:t>Email: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90CC61-A960-EF26-A1AD-C92FE2D2EE40}"/>
              </a:ext>
            </a:extLst>
          </p:cNvPr>
          <p:cNvSpPr/>
          <p:nvPr/>
        </p:nvSpPr>
        <p:spPr>
          <a:xfrm>
            <a:off x="4689617" y="3464679"/>
            <a:ext cx="2739915" cy="209025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1107D2-4EF4-008C-4819-781E002397C5}"/>
              </a:ext>
            </a:extLst>
          </p:cNvPr>
          <p:cNvSpPr txBox="1"/>
          <p:nvPr/>
        </p:nvSpPr>
        <p:spPr>
          <a:xfrm>
            <a:off x="4611680" y="3258094"/>
            <a:ext cx="6748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/>
              <a:t>Mật khẩu: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8EB2B6-9F4C-BAB3-25C5-BE0B34D128DC}"/>
              </a:ext>
            </a:extLst>
          </p:cNvPr>
          <p:cNvSpPr/>
          <p:nvPr/>
        </p:nvSpPr>
        <p:spPr>
          <a:xfrm>
            <a:off x="4689615" y="4300768"/>
            <a:ext cx="2739915" cy="2090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bg1"/>
                </a:solidFill>
              </a:rPr>
              <a:t>Đăng kí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24A8DF-41FA-26A1-D36A-38746370A8A7}"/>
              </a:ext>
            </a:extLst>
          </p:cNvPr>
          <p:cNvSpPr/>
          <p:nvPr/>
        </p:nvSpPr>
        <p:spPr>
          <a:xfrm>
            <a:off x="4689614" y="4579296"/>
            <a:ext cx="2739915" cy="193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Đăng nhập với Google</a:t>
            </a:r>
          </a:p>
        </p:txBody>
      </p:sp>
      <p:pic>
        <p:nvPicPr>
          <p:cNvPr id="19" name="Picture 18" descr="A colorful letter g&#10;&#10;AI-generated content may be incorrect.">
            <a:extLst>
              <a:ext uri="{FF2B5EF4-FFF2-40B4-BE49-F238E27FC236}">
                <a16:creationId xmlns:a16="http://schemas.microsoft.com/office/drawing/2014/main" id="{538B6FC7-EB7E-89B4-866C-BEF53B7737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078" y="4607027"/>
            <a:ext cx="138363" cy="13836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8278950-0FFA-37B2-E771-291537ED07E9}"/>
              </a:ext>
            </a:extLst>
          </p:cNvPr>
          <p:cNvSpPr txBox="1"/>
          <p:nvPr/>
        </p:nvSpPr>
        <p:spPr>
          <a:xfrm>
            <a:off x="5575150" y="2100900"/>
            <a:ext cx="1041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Đăng kí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57986D-6E91-7DF8-13FC-22C5A5C88814}"/>
              </a:ext>
            </a:extLst>
          </p:cNvPr>
          <p:cNvSpPr/>
          <p:nvPr/>
        </p:nvSpPr>
        <p:spPr>
          <a:xfrm>
            <a:off x="4705382" y="2634217"/>
            <a:ext cx="2732034" cy="215444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1E0232-0088-26B2-2BB6-2C16FDED0F85}"/>
              </a:ext>
            </a:extLst>
          </p:cNvPr>
          <p:cNvSpPr txBox="1"/>
          <p:nvPr/>
        </p:nvSpPr>
        <p:spPr>
          <a:xfrm>
            <a:off x="4611680" y="2449551"/>
            <a:ext cx="6748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/>
              <a:t>Họ và tên: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E04B0C-7307-4008-F7C5-6DF6102A87AC}"/>
              </a:ext>
            </a:extLst>
          </p:cNvPr>
          <p:cNvSpPr/>
          <p:nvPr/>
        </p:nvSpPr>
        <p:spPr>
          <a:xfrm>
            <a:off x="4689616" y="3961768"/>
            <a:ext cx="2739915" cy="193826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AE22FF-A483-580B-887D-F417FEC15570}"/>
              </a:ext>
            </a:extLst>
          </p:cNvPr>
          <p:cNvSpPr txBox="1"/>
          <p:nvPr/>
        </p:nvSpPr>
        <p:spPr>
          <a:xfrm>
            <a:off x="4611680" y="3709089"/>
            <a:ext cx="11793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/>
              <a:t>Nhập lại mật khẩu:</a:t>
            </a:r>
          </a:p>
        </p:txBody>
      </p:sp>
      <p:pic>
        <p:nvPicPr>
          <p:cNvPr id="21" name="Picture 20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A63C160D-16FA-2159-8DC5-6DAA4B80DA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510" y="1442406"/>
            <a:ext cx="930981" cy="71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296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2CDD46-F80E-09D5-CF5B-53FDEEC12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A83420D-9DDB-B8F0-1E8D-AA4789B664CF}"/>
              </a:ext>
            </a:extLst>
          </p:cNvPr>
          <p:cNvSpPr/>
          <p:nvPr/>
        </p:nvSpPr>
        <p:spPr>
          <a:xfrm>
            <a:off x="0" y="0"/>
            <a:ext cx="12192000" cy="412955"/>
          </a:xfrm>
          <a:prstGeom prst="rect">
            <a:avLst/>
          </a:prstGeom>
          <a:solidFill>
            <a:srgbClr val="1E2939"/>
          </a:solidFill>
          <a:ln>
            <a:solidFill>
              <a:srgbClr val="1E29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BCF463-3CD9-4ADE-C3A3-06A9360F2BCA}"/>
              </a:ext>
            </a:extLst>
          </p:cNvPr>
          <p:cNvSpPr/>
          <p:nvPr/>
        </p:nvSpPr>
        <p:spPr>
          <a:xfrm>
            <a:off x="0" y="5712542"/>
            <a:ext cx="12192000" cy="1145458"/>
          </a:xfrm>
          <a:prstGeom prst="rect">
            <a:avLst/>
          </a:prstGeom>
          <a:solidFill>
            <a:srgbClr val="1018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359950B-1CB0-095D-A622-11CBBEFFB3E2}"/>
              </a:ext>
            </a:extLst>
          </p:cNvPr>
          <p:cNvCxnSpPr>
            <a:cxnSpLocks/>
          </p:cNvCxnSpPr>
          <p:nvPr/>
        </p:nvCxnSpPr>
        <p:spPr>
          <a:xfrm>
            <a:off x="3667432" y="6587613"/>
            <a:ext cx="4857136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AD224B9-94A0-D193-FF25-B98EDB564E9B}"/>
              </a:ext>
            </a:extLst>
          </p:cNvPr>
          <p:cNvSpPr/>
          <p:nvPr/>
        </p:nvSpPr>
        <p:spPr>
          <a:xfrm>
            <a:off x="3651667" y="464079"/>
            <a:ext cx="4857136" cy="519364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B78EB4-93DF-E4E6-A05E-4D4361497D23}"/>
              </a:ext>
            </a:extLst>
          </p:cNvPr>
          <p:cNvSpPr/>
          <p:nvPr/>
        </p:nvSpPr>
        <p:spPr>
          <a:xfrm>
            <a:off x="3667432" y="5773751"/>
            <a:ext cx="1577693" cy="746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rgbClr val="04D7F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LitePaas</a:t>
            </a:r>
          </a:p>
          <a:p>
            <a:endParaRPr lang="en-US" sz="800">
              <a:solidFill>
                <a:srgbClr val="04D7F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500">
                <a:latin typeface="Arial" panose="020B0604020202020204" pitchFamily="34" charset="0"/>
                <a:cs typeface="Arial" panose="020B0604020202020204" pitchFamily="34" charset="0"/>
              </a:rPr>
              <a:t>Cung cấp dịch vụ đám mây và giải pháp triển khai ứng dụng nhanh chóng, an toàn và linh hoạt.</a:t>
            </a:r>
          </a:p>
          <a:p>
            <a:r>
              <a:rPr lang="en-US" sz="500">
                <a:latin typeface="Arial" panose="020B0604020202020204" pitchFamily="34" charset="0"/>
                <a:cs typeface="Arial" panose="020B0604020202020204" pitchFamily="34" charset="0"/>
              </a:rPr>
              <a:t>Đảm bảo hiệu suất ổn định, bảo mật tối đa, hỗ trợ kỹ thuật tận tâm.</a:t>
            </a:r>
          </a:p>
          <a:p>
            <a:endParaRPr lang="en-US" sz="800">
              <a:solidFill>
                <a:srgbClr val="04D7F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F08B689-BFB6-BD45-E8E2-8C1F2EF9C9C4}"/>
              </a:ext>
            </a:extLst>
          </p:cNvPr>
          <p:cNvSpPr/>
          <p:nvPr/>
        </p:nvSpPr>
        <p:spPr>
          <a:xfrm>
            <a:off x="5307153" y="5773751"/>
            <a:ext cx="1577693" cy="74632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rgbClr val="04D7F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 trợ 24/7</a:t>
            </a: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500">
                <a:latin typeface="Arial" panose="020B0604020202020204" pitchFamily="34" charset="0"/>
                <a:cs typeface="Arial" panose="020B0604020202020204" pitchFamily="34" charset="0"/>
              </a:rPr>
              <a:t>Đội ngũ hỗ trợ kỹ thuật của chúng tôi luôn sẵn sàng hỗ trợ bạn 24/24h.</a:t>
            </a:r>
          </a:p>
          <a:p>
            <a:r>
              <a:rPr lang="en-US" sz="500">
                <a:latin typeface="Arial" panose="020B0604020202020204" pitchFamily="34" charset="0"/>
                <a:cs typeface="Arial" panose="020B0604020202020204" pitchFamily="34" charset="0"/>
              </a:rPr>
              <a:t>Email: support@LitePaas.vn</a:t>
            </a:r>
          </a:p>
          <a:p>
            <a:r>
              <a:rPr lang="en-US" sz="500">
                <a:latin typeface="Arial" panose="020B0604020202020204" pitchFamily="34" charset="0"/>
                <a:cs typeface="Arial" panose="020B0604020202020204" pitchFamily="34" charset="0"/>
              </a:rPr>
              <a:t>Hotline: 1900 1234</a:t>
            </a: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9B43353-F202-654C-CC8B-B7BE0F303341}"/>
              </a:ext>
            </a:extLst>
          </p:cNvPr>
          <p:cNvSpPr/>
          <p:nvPr/>
        </p:nvSpPr>
        <p:spPr>
          <a:xfrm>
            <a:off x="6941574" y="5773751"/>
            <a:ext cx="1577693" cy="74632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rgbClr val="04D7F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 nối với chúng tôi</a:t>
            </a: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  <a:hlinkClick r:id="rId3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Flowchart: Terminator 33">
            <a:extLst>
              <a:ext uri="{FF2B5EF4-FFF2-40B4-BE49-F238E27FC236}">
                <a16:creationId xmlns:a16="http://schemas.microsoft.com/office/drawing/2014/main" id="{ADFB7C34-68CA-4385-4671-09DCFAC056B3}"/>
              </a:ext>
            </a:extLst>
          </p:cNvPr>
          <p:cNvSpPr/>
          <p:nvPr/>
        </p:nvSpPr>
        <p:spPr>
          <a:xfrm>
            <a:off x="7068270" y="6154948"/>
            <a:ext cx="419346" cy="228506"/>
          </a:xfrm>
          <a:prstGeom prst="flowChartTerminator">
            <a:avLst/>
          </a:prstGeom>
          <a:solidFill>
            <a:srgbClr val="F2F2F2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Zalo</a:t>
            </a:r>
          </a:p>
        </p:txBody>
      </p:sp>
      <p:sp>
        <p:nvSpPr>
          <p:cNvPr id="35" name="Flowchart: Terminator 34">
            <a:extLst>
              <a:ext uri="{FF2B5EF4-FFF2-40B4-BE49-F238E27FC236}">
                <a16:creationId xmlns:a16="http://schemas.microsoft.com/office/drawing/2014/main" id="{A44F6568-AE76-1D86-2B69-C7DD2BD71CAA}"/>
              </a:ext>
            </a:extLst>
          </p:cNvPr>
          <p:cNvSpPr/>
          <p:nvPr/>
        </p:nvSpPr>
        <p:spPr>
          <a:xfrm>
            <a:off x="7544344" y="6146913"/>
            <a:ext cx="602770" cy="244576"/>
          </a:xfrm>
          <a:prstGeom prst="flowChartTerminator">
            <a:avLst/>
          </a:prstGeom>
          <a:solidFill>
            <a:srgbClr val="F2F2F2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Facebook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15CD04-0AB2-8C6F-7E80-EBB13F94AE4D}"/>
              </a:ext>
            </a:extLst>
          </p:cNvPr>
          <p:cNvSpPr txBox="1"/>
          <p:nvPr/>
        </p:nvSpPr>
        <p:spPr>
          <a:xfrm>
            <a:off x="5388078" y="6642429"/>
            <a:ext cx="14158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">
                <a:solidFill>
                  <a:schemeClr val="bg1"/>
                </a:solidFill>
              </a:rPr>
              <a:t>© 2025 </a:t>
            </a:r>
            <a:r>
              <a:rPr lang="en-US" sz="400">
                <a:solidFill>
                  <a:schemeClr val="bg1"/>
                </a:solidFill>
              </a:rPr>
              <a:t>LitePaas</a:t>
            </a:r>
            <a:r>
              <a:rPr lang="vi-VN" sz="400">
                <a:solidFill>
                  <a:schemeClr val="bg1"/>
                </a:solidFill>
              </a:rPr>
              <a:t>. Tất cả các quyền được bảo lưu.</a:t>
            </a:r>
            <a:endParaRPr lang="en-US" sz="400">
              <a:solidFill>
                <a:schemeClr val="bg1"/>
              </a:solidFill>
            </a:endParaRPr>
          </a:p>
        </p:txBody>
      </p:sp>
      <p:pic>
        <p:nvPicPr>
          <p:cNvPr id="39" name="Picture 38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1DB06133-0354-5DFF-C906-BE6BE421BC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280" y="85970"/>
            <a:ext cx="305581" cy="23330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49FFFF4-E74A-AF95-787C-E8DFAF9AC5A2}"/>
              </a:ext>
            </a:extLst>
          </p:cNvPr>
          <p:cNvSpPr txBox="1"/>
          <p:nvPr/>
        </p:nvSpPr>
        <p:spPr>
          <a:xfrm>
            <a:off x="4074167" y="104532"/>
            <a:ext cx="6390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>
                <a:solidFill>
                  <a:schemeClr val="bg1"/>
                </a:solidFill>
              </a:rPr>
              <a:t>LitePaas</a:t>
            </a:r>
          </a:p>
        </p:txBody>
      </p:sp>
      <p:pic>
        <p:nvPicPr>
          <p:cNvPr id="2" name="Picture 1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E7B1CDA7-6B31-DAA0-3065-A62B911DD0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510" y="1394199"/>
            <a:ext cx="930981" cy="71077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F44B468-D88C-B24F-03F2-5D38E2DE693C}"/>
              </a:ext>
            </a:extLst>
          </p:cNvPr>
          <p:cNvSpPr/>
          <p:nvPr/>
        </p:nvSpPr>
        <p:spPr>
          <a:xfrm>
            <a:off x="4812310" y="2548020"/>
            <a:ext cx="2732034" cy="196531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8E6830-AC56-DAC5-6A63-A2B2229D6245}"/>
              </a:ext>
            </a:extLst>
          </p:cNvPr>
          <p:cNvSpPr txBox="1"/>
          <p:nvPr/>
        </p:nvSpPr>
        <p:spPr>
          <a:xfrm>
            <a:off x="4718608" y="2363354"/>
            <a:ext cx="6748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/>
              <a:t>Email: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196E53-2408-67D1-2212-7951E8B0EC81}"/>
              </a:ext>
            </a:extLst>
          </p:cNvPr>
          <p:cNvSpPr/>
          <p:nvPr/>
        </p:nvSpPr>
        <p:spPr>
          <a:xfrm>
            <a:off x="4812310" y="3001397"/>
            <a:ext cx="2739915" cy="196532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4560FA-6E91-F7DD-5FB5-037CA9D0A6A6}"/>
              </a:ext>
            </a:extLst>
          </p:cNvPr>
          <p:cNvSpPr txBox="1"/>
          <p:nvPr/>
        </p:nvSpPr>
        <p:spPr>
          <a:xfrm>
            <a:off x="4718608" y="2797061"/>
            <a:ext cx="6748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/>
              <a:t>Mật khẩu: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3EA771-5E55-04EA-7826-C3A0611C4F0E}"/>
              </a:ext>
            </a:extLst>
          </p:cNvPr>
          <p:cNvSpPr/>
          <p:nvPr/>
        </p:nvSpPr>
        <p:spPr>
          <a:xfrm>
            <a:off x="4808369" y="3292303"/>
            <a:ext cx="2739915" cy="23133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bg1"/>
                </a:solidFill>
              </a:rPr>
              <a:t>Đăng nhập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FDFADB-5007-7773-E3FA-4F76AA561C99}"/>
              </a:ext>
            </a:extLst>
          </p:cNvPr>
          <p:cNvSpPr/>
          <p:nvPr/>
        </p:nvSpPr>
        <p:spPr>
          <a:xfrm>
            <a:off x="4812310" y="3612860"/>
            <a:ext cx="2739915" cy="190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</a:rPr>
              <a:t>Đăng nhập với Google</a:t>
            </a:r>
          </a:p>
        </p:txBody>
      </p:sp>
      <p:pic>
        <p:nvPicPr>
          <p:cNvPr id="19" name="Picture 18" descr="A colorful letter g&#10;&#10;AI-generated content may be incorrect.">
            <a:extLst>
              <a:ext uri="{FF2B5EF4-FFF2-40B4-BE49-F238E27FC236}">
                <a16:creationId xmlns:a16="http://schemas.microsoft.com/office/drawing/2014/main" id="{217EB6DB-4A87-7DD4-5F2D-09E45CAAF8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183" y="3639761"/>
            <a:ext cx="136774" cy="13677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ABC2808-FFDC-DFE8-1153-C2301585B1AA}"/>
              </a:ext>
            </a:extLst>
          </p:cNvPr>
          <p:cNvSpPr txBox="1"/>
          <p:nvPr/>
        </p:nvSpPr>
        <p:spPr>
          <a:xfrm>
            <a:off x="5630510" y="2086716"/>
            <a:ext cx="930981" cy="2766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Đăng nhập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11779B-C4F6-B2E0-C3EC-42EB29A9DF3B}"/>
              </a:ext>
            </a:extLst>
          </p:cNvPr>
          <p:cNvSpPr txBox="1"/>
          <p:nvPr/>
        </p:nvSpPr>
        <p:spPr>
          <a:xfrm>
            <a:off x="5444898" y="3892658"/>
            <a:ext cx="10316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/>
              <a:t>Bạn chưa có tài khoản 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51A249-967D-BFAC-2D4B-7B70EE167DD0}"/>
              </a:ext>
            </a:extLst>
          </p:cNvPr>
          <p:cNvSpPr txBox="1"/>
          <p:nvPr/>
        </p:nvSpPr>
        <p:spPr>
          <a:xfrm>
            <a:off x="6324098" y="3892658"/>
            <a:ext cx="44802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>
                <a:solidFill>
                  <a:schemeClr val="tx2">
                    <a:lumMod val="50000"/>
                    <a:lumOff val="50000"/>
                  </a:schemeClr>
                </a:solidFill>
              </a:rPr>
              <a:t>đăng kí</a:t>
            </a:r>
          </a:p>
        </p:txBody>
      </p:sp>
    </p:spTree>
    <p:extLst>
      <p:ext uri="{BB962C8B-B14F-4D97-AF65-F5344CB8AC3E}">
        <p14:creationId xmlns:p14="http://schemas.microsoft.com/office/powerpoint/2010/main" val="2356926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C8FABB-7C2E-E40A-E6A7-D737F79A5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F1AF128-BBA3-102B-A06D-0B6F89A003B6}"/>
              </a:ext>
            </a:extLst>
          </p:cNvPr>
          <p:cNvSpPr/>
          <p:nvPr/>
        </p:nvSpPr>
        <p:spPr>
          <a:xfrm>
            <a:off x="0" y="0"/>
            <a:ext cx="12192000" cy="412955"/>
          </a:xfrm>
          <a:prstGeom prst="rect">
            <a:avLst/>
          </a:prstGeom>
          <a:solidFill>
            <a:srgbClr val="1E2939"/>
          </a:solidFill>
          <a:ln>
            <a:solidFill>
              <a:srgbClr val="1E29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E1843A-FCBF-6D0F-4518-FBD1E55CFF0D}"/>
              </a:ext>
            </a:extLst>
          </p:cNvPr>
          <p:cNvSpPr/>
          <p:nvPr/>
        </p:nvSpPr>
        <p:spPr>
          <a:xfrm>
            <a:off x="0" y="5712542"/>
            <a:ext cx="12192000" cy="1145458"/>
          </a:xfrm>
          <a:prstGeom prst="rect">
            <a:avLst/>
          </a:prstGeom>
          <a:solidFill>
            <a:srgbClr val="1018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9F3BDE3-8D96-4D56-DBBD-DEDE99E1A85C}"/>
              </a:ext>
            </a:extLst>
          </p:cNvPr>
          <p:cNvCxnSpPr>
            <a:cxnSpLocks/>
          </p:cNvCxnSpPr>
          <p:nvPr/>
        </p:nvCxnSpPr>
        <p:spPr>
          <a:xfrm>
            <a:off x="3667432" y="6587613"/>
            <a:ext cx="4857136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72B3310-2F59-5AB0-91E2-9CE97C39AF9A}"/>
              </a:ext>
            </a:extLst>
          </p:cNvPr>
          <p:cNvSpPr/>
          <p:nvPr/>
        </p:nvSpPr>
        <p:spPr>
          <a:xfrm>
            <a:off x="3651667" y="464079"/>
            <a:ext cx="4857136" cy="519364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1BE5FFC9-4E24-9A1E-2C5A-865CBE93B4E6}"/>
              </a:ext>
            </a:extLst>
          </p:cNvPr>
          <p:cNvSpPr/>
          <p:nvPr/>
        </p:nvSpPr>
        <p:spPr>
          <a:xfrm>
            <a:off x="7675699" y="85970"/>
            <a:ext cx="797741" cy="265736"/>
          </a:xfrm>
          <a:prstGeom prst="flowChartTerminator">
            <a:avLst/>
          </a:prstGeom>
          <a:solidFill>
            <a:srgbClr val="F2F2F2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F8D5EBDE-5EE8-3CDE-266F-6C583C9CEAF1}"/>
              </a:ext>
            </a:extLst>
          </p:cNvPr>
          <p:cNvSpPr>
            <a:spLocks/>
          </p:cNvSpPr>
          <p:nvPr/>
        </p:nvSpPr>
        <p:spPr>
          <a:xfrm>
            <a:off x="7709542" y="117217"/>
            <a:ext cx="207020" cy="200246"/>
          </a:xfrm>
          <a:prstGeom prst="flowChartConnector">
            <a:avLst/>
          </a:prstGeom>
          <a:solidFill>
            <a:srgbClr val="04D7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2CDFD58-5228-273F-863F-5B1D21E07FF9}"/>
              </a:ext>
            </a:extLst>
          </p:cNvPr>
          <p:cNvSpPr/>
          <p:nvPr/>
        </p:nvSpPr>
        <p:spPr>
          <a:xfrm>
            <a:off x="3667432" y="5773751"/>
            <a:ext cx="1577693" cy="746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4D7F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LitePaas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4D7F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Cung cấp dịch vụ đám mây và giải pháp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Đảm bảo hiệu suất ổn định, bảo mật tối đa, hỗ trợ kỹ thuật tận tâm.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4D7F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36A27D-99A8-2D1E-937A-E0F31C45721F}"/>
              </a:ext>
            </a:extLst>
          </p:cNvPr>
          <p:cNvSpPr/>
          <p:nvPr/>
        </p:nvSpPr>
        <p:spPr>
          <a:xfrm>
            <a:off x="5307153" y="5773751"/>
            <a:ext cx="1577693" cy="74632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4D7F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Hỗ trợ 24/7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Đội ngũ hỗ trợ kỹ thuật của chúng tôi luôn sẵn sàng hỗ trợ bạn 24/24h.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Email: support@LitePaas.vn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Hotline: 1900 1234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8552CFB-DF8F-1C4F-8263-38FC5CC1C394}"/>
              </a:ext>
            </a:extLst>
          </p:cNvPr>
          <p:cNvSpPr/>
          <p:nvPr/>
        </p:nvSpPr>
        <p:spPr>
          <a:xfrm>
            <a:off x="6941574" y="5773751"/>
            <a:ext cx="1577693" cy="74632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4D7F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Kết nối với chúng tôi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hlinkClick r:id="rId3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63F981-1E03-6C49-DB50-BDA3DA2D0686}"/>
              </a:ext>
            </a:extLst>
          </p:cNvPr>
          <p:cNvSpPr txBox="1"/>
          <p:nvPr/>
        </p:nvSpPr>
        <p:spPr>
          <a:xfrm flipH="1">
            <a:off x="7675699" y="119367"/>
            <a:ext cx="27912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DV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7D095C-46D7-B9B3-29C1-CD926D6A0726}"/>
              </a:ext>
            </a:extLst>
          </p:cNvPr>
          <p:cNvSpPr txBox="1"/>
          <p:nvPr/>
        </p:nvSpPr>
        <p:spPr>
          <a:xfrm>
            <a:off x="7845729" y="118235"/>
            <a:ext cx="56792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Đinh vux…</a:t>
            </a:r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8447DD8A-682E-54DC-5A0E-4B532F184A86}"/>
              </a:ext>
            </a:extLst>
          </p:cNvPr>
          <p:cNvSpPr/>
          <p:nvPr/>
        </p:nvSpPr>
        <p:spPr>
          <a:xfrm>
            <a:off x="8345322" y="187708"/>
            <a:ext cx="5105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Flowchart: Terminator 33">
            <a:extLst>
              <a:ext uri="{FF2B5EF4-FFF2-40B4-BE49-F238E27FC236}">
                <a16:creationId xmlns:a16="http://schemas.microsoft.com/office/drawing/2014/main" id="{2C43C401-3476-A6DC-655F-F522592AA3AF}"/>
              </a:ext>
            </a:extLst>
          </p:cNvPr>
          <p:cNvSpPr/>
          <p:nvPr/>
        </p:nvSpPr>
        <p:spPr>
          <a:xfrm>
            <a:off x="7068270" y="6154948"/>
            <a:ext cx="419346" cy="228506"/>
          </a:xfrm>
          <a:prstGeom prst="flowChartTerminator">
            <a:avLst/>
          </a:prstGeom>
          <a:solidFill>
            <a:srgbClr val="F2F2F2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Zalo</a:t>
            </a:r>
          </a:p>
        </p:txBody>
      </p:sp>
      <p:sp>
        <p:nvSpPr>
          <p:cNvPr id="35" name="Flowchart: Terminator 34">
            <a:extLst>
              <a:ext uri="{FF2B5EF4-FFF2-40B4-BE49-F238E27FC236}">
                <a16:creationId xmlns:a16="http://schemas.microsoft.com/office/drawing/2014/main" id="{DDE56194-0B6B-6548-EB43-BDEDE7DFF413}"/>
              </a:ext>
            </a:extLst>
          </p:cNvPr>
          <p:cNvSpPr/>
          <p:nvPr/>
        </p:nvSpPr>
        <p:spPr>
          <a:xfrm>
            <a:off x="7544344" y="6146913"/>
            <a:ext cx="602770" cy="244576"/>
          </a:xfrm>
          <a:prstGeom prst="flowChartTerminator">
            <a:avLst/>
          </a:prstGeom>
          <a:solidFill>
            <a:srgbClr val="F2F2F2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Facebook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4AA882-B362-5262-669F-A1D66D38A82A}"/>
              </a:ext>
            </a:extLst>
          </p:cNvPr>
          <p:cNvSpPr txBox="1"/>
          <p:nvPr/>
        </p:nvSpPr>
        <p:spPr>
          <a:xfrm>
            <a:off x="5388078" y="6642429"/>
            <a:ext cx="14158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© 2025 </a:t>
            </a: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LitePaas</a:t>
            </a:r>
            <a:r>
              <a:rPr kumimoji="0" lang="vi-VN" sz="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 Tất cả các quyền được bảo lưu.</a:t>
            </a: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9" name="Picture 38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3C5B22B8-53BB-1DE2-A8EE-88801EA8A1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280" y="85970"/>
            <a:ext cx="305581" cy="23330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C2F03C22-4853-1F7A-C033-3B48D980EBA4}"/>
              </a:ext>
            </a:extLst>
          </p:cNvPr>
          <p:cNvSpPr txBox="1"/>
          <p:nvPr/>
        </p:nvSpPr>
        <p:spPr>
          <a:xfrm>
            <a:off x="4074167" y="104532"/>
            <a:ext cx="6390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LitePaas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C13C056-477A-9C6D-FBDB-086A8D99F9F7}"/>
              </a:ext>
            </a:extLst>
          </p:cNvPr>
          <p:cNvSpPr/>
          <p:nvPr/>
        </p:nvSpPr>
        <p:spPr>
          <a:xfrm>
            <a:off x="5076096" y="678501"/>
            <a:ext cx="3455654" cy="489217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4DCF5D-467C-EB27-D84F-61AC7EB0CCBB}"/>
              </a:ext>
            </a:extLst>
          </p:cNvPr>
          <p:cNvSpPr/>
          <p:nvPr/>
        </p:nvSpPr>
        <p:spPr>
          <a:xfrm>
            <a:off x="3990834" y="555089"/>
            <a:ext cx="943897" cy="11535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20136B-2664-0724-60CF-BE9CC0E9AB2B}"/>
              </a:ext>
            </a:extLst>
          </p:cNvPr>
          <p:cNvSpPr/>
          <p:nvPr/>
        </p:nvSpPr>
        <p:spPr>
          <a:xfrm>
            <a:off x="5262524" y="1176485"/>
            <a:ext cx="3082798" cy="41764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C06B3A5-DDC6-0889-B322-72834588BBB6}"/>
              </a:ext>
            </a:extLst>
          </p:cNvPr>
          <p:cNvSpPr/>
          <p:nvPr/>
        </p:nvSpPr>
        <p:spPr>
          <a:xfrm>
            <a:off x="5357597" y="1708687"/>
            <a:ext cx="903974" cy="353190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AA72EEC-1AAC-B0E4-EA80-2FAADBEEC4A5}"/>
              </a:ext>
            </a:extLst>
          </p:cNvPr>
          <p:cNvSpPr/>
          <p:nvPr/>
        </p:nvSpPr>
        <p:spPr>
          <a:xfrm>
            <a:off x="4074167" y="721360"/>
            <a:ext cx="777233" cy="157480"/>
          </a:xfrm>
          <a:prstGeom prst="roundRect">
            <a:avLst/>
          </a:prstGeom>
          <a:solidFill>
            <a:srgbClr val="1E29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>
                <a:solidFill>
                  <a:schemeClr val="bg1"/>
                </a:solidFill>
              </a:rPr>
              <a:t>Tất cả dịch vụ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57643B3-A248-5ABF-16E1-1818DB3E41DC}"/>
              </a:ext>
            </a:extLst>
          </p:cNvPr>
          <p:cNvSpPr/>
          <p:nvPr/>
        </p:nvSpPr>
        <p:spPr>
          <a:xfrm>
            <a:off x="4074167" y="914724"/>
            <a:ext cx="777233" cy="1574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>
                <a:solidFill>
                  <a:schemeClr val="tx1"/>
                </a:solidFill>
              </a:rPr>
              <a:t>Dịch vụ của tôi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4B0DBA5-6A18-D51D-0B03-681EE91AC33B}"/>
              </a:ext>
            </a:extLst>
          </p:cNvPr>
          <p:cNvSpPr/>
          <p:nvPr/>
        </p:nvSpPr>
        <p:spPr>
          <a:xfrm>
            <a:off x="4074167" y="1095342"/>
            <a:ext cx="777233" cy="1574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>
                <a:solidFill>
                  <a:schemeClr val="tx1"/>
                </a:solidFill>
              </a:rPr>
              <a:t>Yêu cầu hỗ trợ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92C1880-BFAD-584E-441D-539F8EFFD440}"/>
              </a:ext>
            </a:extLst>
          </p:cNvPr>
          <p:cNvSpPr/>
          <p:nvPr/>
        </p:nvSpPr>
        <p:spPr>
          <a:xfrm>
            <a:off x="4074167" y="1287328"/>
            <a:ext cx="777233" cy="1574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>
                <a:solidFill>
                  <a:schemeClr val="tx1"/>
                </a:solidFill>
              </a:rPr>
              <a:t>Hóa đơn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B63EA58-9D69-4FAD-522C-97E76B72EBE0}"/>
              </a:ext>
            </a:extLst>
          </p:cNvPr>
          <p:cNvSpPr/>
          <p:nvPr/>
        </p:nvSpPr>
        <p:spPr>
          <a:xfrm>
            <a:off x="4074167" y="1479314"/>
            <a:ext cx="777233" cy="1574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>
                <a:solidFill>
                  <a:schemeClr val="tx1"/>
                </a:solidFill>
              </a:rPr>
              <a:t>Lịch sử thanh toán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3CC995-C1D0-889A-B886-662E73A9B387}"/>
              </a:ext>
            </a:extLst>
          </p:cNvPr>
          <p:cNvSpPr txBox="1"/>
          <p:nvPr/>
        </p:nvSpPr>
        <p:spPr>
          <a:xfrm>
            <a:off x="5365131" y="749038"/>
            <a:ext cx="1769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Tất cả dịch vụ</a:t>
            </a:r>
          </a:p>
          <a:p>
            <a:endParaRPr lang="en-US" sz="12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893EC68-20F8-A2FA-0518-02678A787D0D}"/>
              </a:ext>
            </a:extLst>
          </p:cNvPr>
          <p:cNvSpPr txBox="1"/>
          <p:nvPr/>
        </p:nvSpPr>
        <p:spPr>
          <a:xfrm>
            <a:off x="5395186" y="1233211"/>
            <a:ext cx="23702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Tất cả dịch vụ</a:t>
            </a:r>
          </a:p>
          <a:p>
            <a:r>
              <a:rPr lang="en-US" sz="800"/>
              <a:t>Khám phá toàn bộ dịch vụ đám mây của chúng tôi</a:t>
            </a:r>
          </a:p>
          <a:p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237BE083-874F-49E6-1DF0-7136FA9284BD}"/>
              </a:ext>
            </a:extLst>
          </p:cNvPr>
          <p:cNvSpPr/>
          <p:nvPr/>
        </p:nvSpPr>
        <p:spPr>
          <a:xfrm>
            <a:off x="6350956" y="1722061"/>
            <a:ext cx="903974" cy="353190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4F02FF2-015C-B565-DD82-C83481942382}"/>
              </a:ext>
            </a:extLst>
          </p:cNvPr>
          <p:cNvSpPr/>
          <p:nvPr/>
        </p:nvSpPr>
        <p:spPr>
          <a:xfrm>
            <a:off x="7344315" y="1743099"/>
            <a:ext cx="903974" cy="353190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F6D1F65-D5DE-AA36-5271-14BA544433AF}"/>
              </a:ext>
            </a:extLst>
          </p:cNvPr>
          <p:cNvCxnSpPr>
            <a:cxnSpLocks/>
          </p:cNvCxnSpPr>
          <p:nvPr/>
        </p:nvCxnSpPr>
        <p:spPr>
          <a:xfrm>
            <a:off x="5357597" y="2128520"/>
            <a:ext cx="903974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7891F22-46B6-74AA-45C9-446A61625BE6}"/>
              </a:ext>
            </a:extLst>
          </p:cNvPr>
          <p:cNvCxnSpPr>
            <a:cxnSpLocks/>
          </p:cNvCxnSpPr>
          <p:nvPr/>
        </p:nvCxnSpPr>
        <p:spPr>
          <a:xfrm>
            <a:off x="6351936" y="2126615"/>
            <a:ext cx="903974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20248D-7D56-2CAB-4C4C-6E256103CAAF}"/>
              </a:ext>
            </a:extLst>
          </p:cNvPr>
          <p:cNvCxnSpPr>
            <a:cxnSpLocks/>
          </p:cNvCxnSpPr>
          <p:nvPr/>
        </p:nvCxnSpPr>
        <p:spPr>
          <a:xfrm>
            <a:off x="7344315" y="2123440"/>
            <a:ext cx="903974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04BE37D-7B1E-5048-0DBA-51C4CC26011F}"/>
              </a:ext>
            </a:extLst>
          </p:cNvPr>
          <p:cNvSpPr txBox="1"/>
          <p:nvPr/>
        </p:nvSpPr>
        <p:spPr>
          <a:xfrm>
            <a:off x="5424806" y="1776777"/>
            <a:ext cx="8554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600" b="1"/>
              <a:t>Môi trường chạy</a:t>
            </a:r>
          </a:p>
          <a:p>
            <a:r>
              <a:rPr lang="vi-VN" sz="400"/>
              <a:t>Các dịch vụ môi trường runtime và development</a:t>
            </a:r>
          </a:p>
          <a:p>
            <a:br>
              <a:rPr lang="vi-VN" sz="400"/>
            </a:br>
            <a:endParaRPr lang="en-US" sz="4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7418A4B-804B-B652-3EF2-62B0B79F6749}"/>
              </a:ext>
            </a:extLst>
          </p:cNvPr>
          <p:cNvSpPr txBox="1"/>
          <p:nvPr/>
        </p:nvSpPr>
        <p:spPr>
          <a:xfrm>
            <a:off x="6421638" y="1770474"/>
            <a:ext cx="8294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600" b="1"/>
              <a:t>Cơ sở dữ liệu</a:t>
            </a:r>
          </a:p>
          <a:p>
            <a:r>
              <a:rPr lang="vi-VN" sz="400"/>
              <a:t>Các dịch vụ database và lưu trữ dữ liệu</a:t>
            </a:r>
            <a:br>
              <a:rPr lang="vi-VN" sz="400"/>
            </a:br>
            <a:endParaRPr lang="en-US" sz="4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2F8B1D-AD16-E422-BBC6-1C325DD172BD}"/>
              </a:ext>
            </a:extLst>
          </p:cNvPr>
          <p:cNvSpPr txBox="1"/>
          <p:nvPr/>
        </p:nvSpPr>
        <p:spPr>
          <a:xfrm>
            <a:off x="7368706" y="1759423"/>
            <a:ext cx="8853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600" b="1"/>
              <a:t>Dịch vụ lưu trữ &amp; file</a:t>
            </a:r>
          </a:p>
          <a:p>
            <a:r>
              <a:rPr lang="fr-FR" sz="400"/>
              <a:t>Cloud storage và file management services</a:t>
            </a:r>
            <a:endParaRPr lang="vi-VN" sz="400"/>
          </a:p>
          <a:p>
            <a:br>
              <a:rPr lang="vi-VN" sz="400"/>
            </a:br>
            <a:endParaRPr lang="en-US" sz="40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AB8D62FD-7E31-B017-1672-E02D974A8DC9}"/>
              </a:ext>
            </a:extLst>
          </p:cNvPr>
          <p:cNvSpPr/>
          <p:nvPr/>
        </p:nvSpPr>
        <p:spPr>
          <a:xfrm>
            <a:off x="5430528" y="2201165"/>
            <a:ext cx="771326" cy="574389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D47A64D-2A29-FE6B-5625-68857C297AF0}"/>
              </a:ext>
            </a:extLst>
          </p:cNvPr>
          <p:cNvSpPr txBox="1"/>
          <p:nvPr/>
        </p:nvSpPr>
        <p:spPr>
          <a:xfrm>
            <a:off x="5424806" y="2245745"/>
            <a:ext cx="54295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500" b="1"/>
              <a:t>Golang</a:t>
            </a:r>
          </a:p>
          <a:p>
            <a:endParaRPr lang="en-US" sz="300"/>
          </a:p>
          <a:p>
            <a:r>
              <a:rPr lang="vi-VN" sz="300"/>
              <a:t>Môi trường chạy Golang với các phiên bản khác nhau</a:t>
            </a:r>
          </a:p>
          <a:p>
            <a:endParaRPr lang="en-US" sz="40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6AA7BDA-9BC6-C661-BBB3-EC73BF277344}"/>
              </a:ext>
            </a:extLst>
          </p:cNvPr>
          <p:cNvSpPr txBox="1"/>
          <p:nvPr/>
        </p:nvSpPr>
        <p:spPr>
          <a:xfrm>
            <a:off x="5885081" y="2239395"/>
            <a:ext cx="304637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">
                <a:highlight>
                  <a:srgbClr val="00FF00"/>
                </a:highlight>
              </a:rPr>
              <a:t>Hoạt động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686D88E-986A-A928-8FB6-EC24902AF18B}"/>
              </a:ext>
            </a:extLst>
          </p:cNvPr>
          <p:cNvSpPr txBox="1"/>
          <p:nvPr/>
        </p:nvSpPr>
        <p:spPr>
          <a:xfrm>
            <a:off x="5408182" y="2612852"/>
            <a:ext cx="39865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>
                <a:solidFill>
                  <a:srgbClr val="002060"/>
                </a:solidFill>
              </a:rPr>
              <a:t>Miễn phí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658C220-0E64-34C7-A8D2-7190F1DB8EAB}"/>
              </a:ext>
            </a:extLst>
          </p:cNvPr>
          <p:cNvSpPr txBox="1"/>
          <p:nvPr/>
        </p:nvSpPr>
        <p:spPr>
          <a:xfrm>
            <a:off x="5653405" y="2610370"/>
            <a:ext cx="39865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>
                <a:solidFill>
                  <a:schemeClr val="bg1"/>
                </a:solidFill>
                <a:highlight>
                  <a:srgbClr val="0000FF"/>
                </a:highlight>
              </a:rPr>
              <a:t>Chi tiết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5B6FC69-33CB-ABF2-2FC6-E064CB04D72C}"/>
              </a:ext>
            </a:extLst>
          </p:cNvPr>
          <p:cNvSpPr txBox="1"/>
          <p:nvPr/>
        </p:nvSpPr>
        <p:spPr>
          <a:xfrm>
            <a:off x="5849151" y="2610370"/>
            <a:ext cx="39865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>
                <a:solidFill>
                  <a:schemeClr val="bg1"/>
                </a:solidFill>
                <a:highlight>
                  <a:srgbClr val="1E2939"/>
                </a:highlight>
              </a:rPr>
              <a:t>Đăng kí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C0468CC-37AF-7D1E-BB02-748192D3CED4}"/>
              </a:ext>
            </a:extLst>
          </p:cNvPr>
          <p:cNvSpPr/>
          <p:nvPr/>
        </p:nvSpPr>
        <p:spPr>
          <a:xfrm>
            <a:off x="7709542" y="412955"/>
            <a:ext cx="704114" cy="36401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B175717-0260-7051-1025-4A788ED35BE1}"/>
              </a:ext>
            </a:extLst>
          </p:cNvPr>
          <p:cNvCxnSpPr>
            <a:cxnSpLocks/>
            <a:stCxn id="57" idx="1"/>
            <a:endCxn id="57" idx="3"/>
          </p:cNvCxnSpPr>
          <p:nvPr/>
        </p:nvCxnSpPr>
        <p:spPr>
          <a:xfrm>
            <a:off x="7709542" y="594964"/>
            <a:ext cx="70411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C0CFA2A0-12B1-2649-248B-BC1BB0489A39}"/>
              </a:ext>
            </a:extLst>
          </p:cNvPr>
          <p:cNvSpPr txBox="1"/>
          <p:nvPr/>
        </p:nvSpPr>
        <p:spPr>
          <a:xfrm>
            <a:off x="7757710" y="429822"/>
            <a:ext cx="6337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/>
              <a:t>Thông tin tài khoản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5CAE5E9-A82B-F5D5-E541-92021145DDCF}"/>
              </a:ext>
            </a:extLst>
          </p:cNvPr>
          <p:cNvSpPr txBox="1"/>
          <p:nvPr/>
        </p:nvSpPr>
        <p:spPr>
          <a:xfrm>
            <a:off x="7757710" y="612165"/>
            <a:ext cx="6337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>
                <a:solidFill>
                  <a:srgbClr val="FF0000"/>
                </a:solidFill>
              </a:rPr>
              <a:t>Đăng xuất</a:t>
            </a:r>
          </a:p>
        </p:txBody>
      </p:sp>
    </p:spTree>
    <p:extLst>
      <p:ext uri="{BB962C8B-B14F-4D97-AF65-F5344CB8AC3E}">
        <p14:creationId xmlns:p14="http://schemas.microsoft.com/office/powerpoint/2010/main" val="761332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5109D-E4C0-795A-9AE3-2E1D5B469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F58AB5-4829-8CD9-5074-474A052EC1C4}"/>
              </a:ext>
            </a:extLst>
          </p:cNvPr>
          <p:cNvSpPr/>
          <p:nvPr/>
        </p:nvSpPr>
        <p:spPr>
          <a:xfrm>
            <a:off x="0" y="0"/>
            <a:ext cx="12192000" cy="412955"/>
          </a:xfrm>
          <a:prstGeom prst="rect">
            <a:avLst/>
          </a:prstGeom>
          <a:solidFill>
            <a:srgbClr val="1E2939"/>
          </a:solidFill>
          <a:ln>
            <a:solidFill>
              <a:srgbClr val="1E29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AC38A7-D51D-89A1-1EB6-CF7FAB859D66}"/>
              </a:ext>
            </a:extLst>
          </p:cNvPr>
          <p:cNvSpPr/>
          <p:nvPr/>
        </p:nvSpPr>
        <p:spPr>
          <a:xfrm>
            <a:off x="0" y="5712542"/>
            <a:ext cx="12192000" cy="1145458"/>
          </a:xfrm>
          <a:prstGeom prst="rect">
            <a:avLst/>
          </a:prstGeom>
          <a:solidFill>
            <a:srgbClr val="1018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9D17E7-0800-6B04-B8D1-80DF985D23C7}"/>
              </a:ext>
            </a:extLst>
          </p:cNvPr>
          <p:cNvCxnSpPr>
            <a:cxnSpLocks/>
          </p:cNvCxnSpPr>
          <p:nvPr/>
        </p:nvCxnSpPr>
        <p:spPr>
          <a:xfrm>
            <a:off x="3667432" y="6587613"/>
            <a:ext cx="4857136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10AB1A3-0E5E-50DF-C3CE-1697D2FE521B}"/>
              </a:ext>
            </a:extLst>
          </p:cNvPr>
          <p:cNvSpPr/>
          <p:nvPr/>
        </p:nvSpPr>
        <p:spPr>
          <a:xfrm>
            <a:off x="3650461" y="464079"/>
            <a:ext cx="4857136" cy="519364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8A52AD-A63B-543E-831C-C8834D5DA131}"/>
              </a:ext>
            </a:extLst>
          </p:cNvPr>
          <p:cNvSpPr/>
          <p:nvPr/>
        </p:nvSpPr>
        <p:spPr>
          <a:xfrm>
            <a:off x="3667432" y="5773751"/>
            <a:ext cx="1577693" cy="746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rgbClr val="04D7F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LitePaas</a:t>
            </a:r>
          </a:p>
          <a:p>
            <a:endParaRPr lang="en-US" sz="800">
              <a:solidFill>
                <a:srgbClr val="04D7F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500">
                <a:latin typeface="Arial" panose="020B0604020202020204" pitchFamily="34" charset="0"/>
                <a:cs typeface="Arial" panose="020B0604020202020204" pitchFamily="34" charset="0"/>
              </a:rPr>
              <a:t>Cung cấp dịch vụ đám mây và giải pháp triển khai ứng dụng nhanh chóng, an toàn và linh hoạt.</a:t>
            </a:r>
          </a:p>
          <a:p>
            <a:r>
              <a:rPr lang="en-US" sz="500">
                <a:latin typeface="Arial" panose="020B0604020202020204" pitchFamily="34" charset="0"/>
                <a:cs typeface="Arial" panose="020B0604020202020204" pitchFamily="34" charset="0"/>
              </a:rPr>
              <a:t>Đảm bảo hiệu suất ổn định, bảo mật tối đa, hỗ trợ kỹ thuật tận tâm.</a:t>
            </a:r>
          </a:p>
          <a:p>
            <a:endParaRPr lang="en-US" sz="800">
              <a:solidFill>
                <a:srgbClr val="04D7F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FB1492B-1CC6-9321-1C73-03EDA97E9071}"/>
              </a:ext>
            </a:extLst>
          </p:cNvPr>
          <p:cNvSpPr/>
          <p:nvPr/>
        </p:nvSpPr>
        <p:spPr>
          <a:xfrm>
            <a:off x="5307153" y="5773751"/>
            <a:ext cx="1577693" cy="74632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rgbClr val="04D7F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 trợ 24/7</a:t>
            </a: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500">
                <a:latin typeface="Arial" panose="020B0604020202020204" pitchFamily="34" charset="0"/>
                <a:cs typeface="Arial" panose="020B0604020202020204" pitchFamily="34" charset="0"/>
              </a:rPr>
              <a:t>Đội ngũ hỗ trợ kỹ thuật của chúng tôi luôn sẵn sàng hỗ trợ bạn 24/24h.</a:t>
            </a:r>
          </a:p>
          <a:p>
            <a:r>
              <a:rPr lang="en-US" sz="500">
                <a:latin typeface="Arial" panose="020B0604020202020204" pitchFamily="34" charset="0"/>
                <a:cs typeface="Arial" panose="020B0604020202020204" pitchFamily="34" charset="0"/>
              </a:rPr>
              <a:t>Email: support@LitePaas.vn</a:t>
            </a:r>
          </a:p>
          <a:p>
            <a:r>
              <a:rPr lang="en-US" sz="500">
                <a:latin typeface="Arial" panose="020B0604020202020204" pitchFamily="34" charset="0"/>
                <a:cs typeface="Arial" panose="020B0604020202020204" pitchFamily="34" charset="0"/>
              </a:rPr>
              <a:t>Hotline: 1900 1234</a:t>
            </a: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F4C47D7-B51F-5E53-9BC8-49548F8D3531}"/>
              </a:ext>
            </a:extLst>
          </p:cNvPr>
          <p:cNvSpPr/>
          <p:nvPr/>
        </p:nvSpPr>
        <p:spPr>
          <a:xfrm>
            <a:off x="6941574" y="5773751"/>
            <a:ext cx="1577693" cy="74632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rgbClr val="04D7F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 nối với chúng tôi</a:t>
            </a: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  <a:hlinkClick r:id="rId3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Flowchart: Terminator 33">
            <a:extLst>
              <a:ext uri="{FF2B5EF4-FFF2-40B4-BE49-F238E27FC236}">
                <a16:creationId xmlns:a16="http://schemas.microsoft.com/office/drawing/2014/main" id="{BBECDCB8-22B0-B549-E986-A63A6D82B6BB}"/>
              </a:ext>
            </a:extLst>
          </p:cNvPr>
          <p:cNvSpPr/>
          <p:nvPr/>
        </p:nvSpPr>
        <p:spPr>
          <a:xfrm>
            <a:off x="7068270" y="6154948"/>
            <a:ext cx="419346" cy="228506"/>
          </a:xfrm>
          <a:prstGeom prst="flowChartTerminator">
            <a:avLst/>
          </a:prstGeom>
          <a:solidFill>
            <a:srgbClr val="F2F2F2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Zalo</a:t>
            </a:r>
          </a:p>
        </p:txBody>
      </p:sp>
      <p:sp>
        <p:nvSpPr>
          <p:cNvPr id="35" name="Flowchart: Terminator 34">
            <a:extLst>
              <a:ext uri="{FF2B5EF4-FFF2-40B4-BE49-F238E27FC236}">
                <a16:creationId xmlns:a16="http://schemas.microsoft.com/office/drawing/2014/main" id="{80B675E1-9D9E-B089-2700-16CAFDECB3B0}"/>
              </a:ext>
            </a:extLst>
          </p:cNvPr>
          <p:cNvSpPr/>
          <p:nvPr/>
        </p:nvSpPr>
        <p:spPr>
          <a:xfrm>
            <a:off x="7544344" y="6146913"/>
            <a:ext cx="602770" cy="244576"/>
          </a:xfrm>
          <a:prstGeom prst="flowChartTerminator">
            <a:avLst/>
          </a:prstGeom>
          <a:solidFill>
            <a:srgbClr val="F2F2F2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Facebook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51CDD2-DB90-26C9-A01C-7E34E2B5BE96}"/>
              </a:ext>
            </a:extLst>
          </p:cNvPr>
          <p:cNvSpPr txBox="1"/>
          <p:nvPr/>
        </p:nvSpPr>
        <p:spPr>
          <a:xfrm>
            <a:off x="5388078" y="6642429"/>
            <a:ext cx="14158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">
                <a:solidFill>
                  <a:schemeClr val="bg1"/>
                </a:solidFill>
              </a:rPr>
              <a:t>© 2025 </a:t>
            </a:r>
            <a:r>
              <a:rPr lang="en-US" sz="400">
                <a:solidFill>
                  <a:schemeClr val="bg1"/>
                </a:solidFill>
              </a:rPr>
              <a:t>LitePaas</a:t>
            </a:r>
            <a:r>
              <a:rPr lang="vi-VN" sz="400">
                <a:solidFill>
                  <a:schemeClr val="bg1"/>
                </a:solidFill>
              </a:rPr>
              <a:t>. Tất cả các quyền được bảo lưu.</a:t>
            </a:r>
            <a:endParaRPr lang="en-US" sz="400">
              <a:solidFill>
                <a:schemeClr val="bg1"/>
              </a:solidFill>
            </a:endParaRPr>
          </a:p>
        </p:txBody>
      </p:sp>
      <p:pic>
        <p:nvPicPr>
          <p:cNvPr id="39" name="Picture 38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A06F5F0F-011E-4940-1795-AA3862A1CF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280" y="85970"/>
            <a:ext cx="305581" cy="23330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0622E39-61EA-3F9B-C555-8886C4C96EB1}"/>
              </a:ext>
            </a:extLst>
          </p:cNvPr>
          <p:cNvSpPr txBox="1"/>
          <p:nvPr/>
        </p:nvSpPr>
        <p:spPr>
          <a:xfrm>
            <a:off x="4074167" y="104532"/>
            <a:ext cx="6390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>
                <a:solidFill>
                  <a:schemeClr val="bg1"/>
                </a:solidFill>
              </a:rPr>
              <a:t>LitePaas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BFA81F-3B45-27D6-3BEC-975D86A3AD71}"/>
              </a:ext>
            </a:extLst>
          </p:cNvPr>
          <p:cNvSpPr txBox="1"/>
          <p:nvPr/>
        </p:nvSpPr>
        <p:spPr>
          <a:xfrm>
            <a:off x="5630510" y="727872"/>
            <a:ext cx="9309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/>
              <a:t>Thông tin người dùng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4F1ADC-BB6B-6F23-64CB-61D4183A2F56}"/>
              </a:ext>
            </a:extLst>
          </p:cNvPr>
          <p:cNvSpPr/>
          <p:nvPr/>
        </p:nvSpPr>
        <p:spPr>
          <a:xfrm>
            <a:off x="4801979" y="3444083"/>
            <a:ext cx="2739915" cy="215444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714AD2-D61B-D1FC-9B5A-51BC5359E992}"/>
              </a:ext>
            </a:extLst>
          </p:cNvPr>
          <p:cNvSpPr txBox="1"/>
          <p:nvPr/>
        </p:nvSpPr>
        <p:spPr>
          <a:xfrm>
            <a:off x="4716159" y="3241370"/>
            <a:ext cx="120211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/>
              <a:t>Địa chỉ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022B0B9-0375-B760-95EA-999D58C57106}"/>
              </a:ext>
            </a:extLst>
          </p:cNvPr>
          <p:cNvSpPr/>
          <p:nvPr/>
        </p:nvSpPr>
        <p:spPr>
          <a:xfrm>
            <a:off x="5756679" y="975606"/>
            <a:ext cx="647112" cy="62484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4D578E-2C3F-7890-63A8-580B37E4EDB9}"/>
              </a:ext>
            </a:extLst>
          </p:cNvPr>
          <p:cNvSpPr/>
          <p:nvPr/>
        </p:nvSpPr>
        <p:spPr>
          <a:xfrm>
            <a:off x="4799084" y="1890185"/>
            <a:ext cx="2739915" cy="184666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solidFill>
                  <a:schemeClr val="tx1"/>
                </a:solidFill>
              </a:rPr>
              <a:t>Vũ Đinh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047521-ED9F-D4B6-9BE5-2DE48AC16C2A}"/>
              </a:ext>
            </a:extLst>
          </p:cNvPr>
          <p:cNvSpPr txBox="1"/>
          <p:nvPr/>
        </p:nvSpPr>
        <p:spPr>
          <a:xfrm>
            <a:off x="4713264" y="1687472"/>
            <a:ext cx="120211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/>
              <a:t>Họ và tên: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A11E35-8609-ABD9-2348-42D0349A5AA7}"/>
              </a:ext>
            </a:extLst>
          </p:cNvPr>
          <p:cNvSpPr/>
          <p:nvPr/>
        </p:nvSpPr>
        <p:spPr>
          <a:xfrm>
            <a:off x="4793421" y="2368177"/>
            <a:ext cx="2739915" cy="215444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solidFill>
                  <a:schemeClr val="tx1"/>
                </a:solidFill>
              </a:rPr>
              <a:t>dinhvietvu15032004bn@gmail.com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8283CF-440B-0FE6-3E58-CB009851DA7B}"/>
              </a:ext>
            </a:extLst>
          </p:cNvPr>
          <p:cNvSpPr txBox="1"/>
          <p:nvPr/>
        </p:nvSpPr>
        <p:spPr>
          <a:xfrm>
            <a:off x="4707601" y="2165464"/>
            <a:ext cx="120211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/>
              <a:t>Email: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39C921-201E-F49A-DFA4-368C56BC3B75}"/>
              </a:ext>
            </a:extLst>
          </p:cNvPr>
          <p:cNvSpPr/>
          <p:nvPr/>
        </p:nvSpPr>
        <p:spPr>
          <a:xfrm>
            <a:off x="4804429" y="2897775"/>
            <a:ext cx="2739915" cy="215444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solidFill>
                  <a:schemeClr val="tx1"/>
                </a:solidFill>
              </a:rPr>
              <a:t>0123456789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A75CD0-9686-E263-39C5-3F7B600A6BD3}"/>
              </a:ext>
            </a:extLst>
          </p:cNvPr>
          <p:cNvSpPr txBox="1"/>
          <p:nvPr/>
        </p:nvSpPr>
        <p:spPr>
          <a:xfrm>
            <a:off x="4718609" y="2695062"/>
            <a:ext cx="120211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/>
              <a:t>Số điện thoại</a:t>
            </a:r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26EDC6CE-44DC-C9C4-C81F-89179AD365E7}"/>
              </a:ext>
            </a:extLst>
          </p:cNvPr>
          <p:cNvSpPr/>
          <p:nvPr/>
        </p:nvSpPr>
        <p:spPr>
          <a:xfrm rot="20493200">
            <a:off x="7360295" y="2983145"/>
            <a:ext cx="123254" cy="45719"/>
          </a:xfrm>
          <a:prstGeom prst="leftArrow">
            <a:avLst>
              <a:gd name="adj1" fmla="val 50000"/>
              <a:gd name="adj2" fmla="val 48378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10DEA5F4-BA95-CB28-45A0-49251EB7C1BE}"/>
              </a:ext>
            </a:extLst>
          </p:cNvPr>
          <p:cNvSpPr/>
          <p:nvPr/>
        </p:nvSpPr>
        <p:spPr>
          <a:xfrm rot="20493200">
            <a:off x="7358979" y="3522001"/>
            <a:ext cx="123254" cy="54038"/>
          </a:xfrm>
          <a:prstGeom prst="leftArrow">
            <a:avLst>
              <a:gd name="adj1" fmla="val 50000"/>
              <a:gd name="adj2" fmla="val 48378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0B4FA3-C573-3E85-9C33-FB50CAB4EE3E}"/>
              </a:ext>
            </a:extLst>
          </p:cNvPr>
          <p:cNvSpPr/>
          <p:nvPr/>
        </p:nvSpPr>
        <p:spPr>
          <a:xfrm>
            <a:off x="4801979" y="3834974"/>
            <a:ext cx="867370" cy="2023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bg1"/>
                </a:solidFill>
              </a:rPr>
              <a:t>Đổi mật khẩu</a:t>
            </a:r>
          </a:p>
        </p:txBody>
      </p:sp>
    </p:spTree>
    <p:extLst>
      <p:ext uri="{BB962C8B-B14F-4D97-AF65-F5344CB8AC3E}">
        <p14:creationId xmlns:p14="http://schemas.microsoft.com/office/powerpoint/2010/main" val="2430795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89EF47-8699-433C-9258-8395E914D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0CC4373-D130-6C50-38CB-31A4D82B7712}"/>
              </a:ext>
            </a:extLst>
          </p:cNvPr>
          <p:cNvSpPr/>
          <p:nvPr/>
        </p:nvSpPr>
        <p:spPr>
          <a:xfrm>
            <a:off x="0" y="0"/>
            <a:ext cx="12192000" cy="412955"/>
          </a:xfrm>
          <a:prstGeom prst="rect">
            <a:avLst/>
          </a:prstGeom>
          <a:solidFill>
            <a:srgbClr val="1E2939"/>
          </a:solidFill>
          <a:ln>
            <a:solidFill>
              <a:srgbClr val="1E29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2A2B46-B4EF-E27F-4F9C-BCF65215FCF4}"/>
              </a:ext>
            </a:extLst>
          </p:cNvPr>
          <p:cNvSpPr/>
          <p:nvPr/>
        </p:nvSpPr>
        <p:spPr>
          <a:xfrm>
            <a:off x="0" y="5712542"/>
            <a:ext cx="12192000" cy="1145458"/>
          </a:xfrm>
          <a:prstGeom prst="rect">
            <a:avLst/>
          </a:prstGeom>
          <a:solidFill>
            <a:srgbClr val="1018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7E28DA3-49DC-856E-2916-555F1DBFFF28}"/>
              </a:ext>
            </a:extLst>
          </p:cNvPr>
          <p:cNvCxnSpPr>
            <a:cxnSpLocks/>
          </p:cNvCxnSpPr>
          <p:nvPr/>
        </p:nvCxnSpPr>
        <p:spPr>
          <a:xfrm>
            <a:off x="3667432" y="6587613"/>
            <a:ext cx="4857136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5E06ED8-9803-50D3-598B-1209DACAD4A0}"/>
              </a:ext>
            </a:extLst>
          </p:cNvPr>
          <p:cNvSpPr/>
          <p:nvPr/>
        </p:nvSpPr>
        <p:spPr>
          <a:xfrm>
            <a:off x="3651667" y="464079"/>
            <a:ext cx="4857136" cy="519364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502FE27-F2F0-41CF-B28D-95501A4DF7ED}"/>
              </a:ext>
            </a:extLst>
          </p:cNvPr>
          <p:cNvSpPr/>
          <p:nvPr/>
        </p:nvSpPr>
        <p:spPr>
          <a:xfrm>
            <a:off x="3667432" y="5773751"/>
            <a:ext cx="1577693" cy="746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rgbClr val="04D7F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LitePaas</a:t>
            </a:r>
          </a:p>
          <a:p>
            <a:endParaRPr lang="en-US" sz="800">
              <a:solidFill>
                <a:srgbClr val="04D7F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500">
                <a:latin typeface="Arial" panose="020B0604020202020204" pitchFamily="34" charset="0"/>
                <a:cs typeface="Arial" panose="020B0604020202020204" pitchFamily="34" charset="0"/>
              </a:rPr>
              <a:t>Cung cấp dịch vụ đám mây và giải pháp triển khai ứng dụng nhanh chóng, an toàn và linh hoạt.</a:t>
            </a:r>
          </a:p>
          <a:p>
            <a:r>
              <a:rPr lang="en-US" sz="500">
                <a:latin typeface="Arial" panose="020B0604020202020204" pitchFamily="34" charset="0"/>
                <a:cs typeface="Arial" panose="020B0604020202020204" pitchFamily="34" charset="0"/>
              </a:rPr>
              <a:t>Đảm bảo hiệu suất ổn định, bảo mật tối đa, hỗ trợ kỹ thuật tận tâm.</a:t>
            </a:r>
          </a:p>
          <a:p>
            <a:endParaRPr lang="en-US" sz="800">
              <a:solidFill>
                <a:srgbClr val="04D7F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CE87F58-65A1-6D84-DE2A-8C6AFF0370B9}"/>
              </a:ext>
            </a:extLst>
          </p:cNvPr>
          <p:cNvSpPr/>
          <p:nvPr/>
        </p:nvSpPr>
        <p:spPr>
          <a:xfrm>
            <a:off x="5307153" y="5773751"/>
            <a:ext cx="1577693" cy="74632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rgbClr val="04D7F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Hỗ trợ 24/7</a:t>
            </a: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500">
                <a:latin typeface="Arial" panose="020B0604020202020204" pitchFamily="34" charset="0"/>
                <a:cs typeface="Arial" panose="020B0604020202020204" pitchFamily="34" charset="0"/>
              </a:rPr>
              <a:t>Đội ngũ hỗ trợ kỹ thuật của chúng tôi luôn sẵn sàng hỗ trợ bạn 24/24h.</a:t>
            </a:r>
          </a:p>
          <a:p>
            <a:r>
              <a:rPr lang="en-US" sz="500">
                <a:latin typeface="Arial" panose="020B0604020202020204" pitchFamily="34" charset="0"/>
                <a:cs typeface="Arial" panose="020B0604020202020204" pitchFamily="34" charset="0"/>
              </a:rPr>
              <a:t>Email: support@LitePaas.vn</a:t>
            </a:r>
          </a:p>
          <a:p>
            <a:r>
              <a:rPr lang="en-US" sz="500">
                <a:latin typeface="Arial" panose="020B0604020202020204" pitchFamily="34" charset="0"/>
                <a:cs typeface="Arial" panose="020B0604020202020204" pitchFamily="34" charset="0"/>
              </a:rPr>
              <a:t>Hotline: 1900 1234</a:t>
            </a: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7FFE34F-7F65-46E4-C313-1960829EB6E2}"/>
              </a:ext>
            </a:extLst>
          </p:cNvPr>
          <p:cNvSpPr/>
          <p:nvPr/>
        </p:nvSpPr>
        <p:spPr>
          <a:xfrm>
            <a:off x="6941574" y="5773751"/>
            <a:ext cx="1577693" cy="74632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>
                <a:solidFill>
                  <a:srgbClr val="04D7F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 nối với chúng tôi</a:t>
            </a: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  <a:hlinkClick r:id="rId3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Flowchart: Terminator 33">
            <a:extLst>
              <a:ext uri="{FF2B5EF4-FFF2-40B4-BE49-F238E27FC236}">
                <a16:creationId xmlns:a16="http://schemas.microsoft.com/office/drawing/2014/main" id="{7C2EBF5C-491D-0C9F-2C33-400C44BCBC0C}"/>
              </a:ext>
            </a:extLst>
          </p:cNvPr>
          <p:cNvSpPr/>
          <p:nvPr/>
        </p:nvSpPr>
        <p:spPr>
          <a:xfrm>
            <a:off x="7068270" y="6154948"/>
            <a:ext cx="419346" cy="228506"/>
          </a:xfrm>
          <a:prstGeom prst="flowChartTerminator">
            <a:avLst/>
          </a:prstGeom>
          <a:solidFill>
            <a:srgbClr val="F2F2F2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Zalo</a:t>
            </a:r>
          </a:p>
        </p:txBody>
      </p:sp>
      <p:sp>
        <p:nvSpPr>
          <p:cNvPr id="35" name="Flowchart: Terminator 34">
            <a:extLst>
              <a:ext uri="{FF2B5EF4-FFF2-40B4-BE49-F238E27FC236}">
                <a16:creationId xmlns:a16="http://schemas.microsoft.com/office/drawing/2014/main" id="{A49192A6-DD7C-14A4-91CF-448627DABBBF}"/>
              </a:ext>
            </a:extLst>
          </p:cNvPr>
          <p:cNvSpPr/>
          <p:nvPr/>
        </p:nvSpPr>
        <p:spPr>
          <a:xfrm>
            <a:off x="7544344" y="6146913"/>
            <a:ext cx="602770" cy="244576"/>
          </a:xfrm>
          <a:prstGeom prst="flowChartTerminator">
            <a:avLst/>
          </a:prstGeom>
          <a:solidFill>
            <a:srgbClr val="F2F2F2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Facebook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1DE163-F517-A1A6-1199-1884459332A1}"/>
              </a:ext>
            </a:extLst>
          </p:cNvPr>
          <p:cNvSpPr txBox="1"/>
          <p:nvPr/>
        </p:nvSpPr>
        <p:spPr>
          <a:xfrm>
            <a:off x="5388078" y="6642429"/>
            <a:ext cx="14158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00">
                <a:solidFill>
                  <a:schemeClr val="bg1"/>
                </a:solidFill>
              </a:rPr>
              <a:t>© 2025 </a:t>
            </a:r>
            <a:r>
              <a:rPr lang="en-US" sz="400">
                <a:solidFill>
                  <a:schemeClr val="bg1"/>
                </a:solidFill>
              </a:rPr>
              <a:t>LitePaas</a:t>
            </a:r>
            <a:r>
              <a:rPr lang="vi-VN" sz="400">
                <a:solidFill>
                  <a:schemeClr val="bg1"/>
                </a:solidFill>
              </a:rPr>
              <a:t>. Tất cả các quyền được bảo lưu.</a:t>
            </a:r>
            <a:endParaRPr lang="en-US" sz="400">
              <a:solidFill>
                <a:schemeClr val="bg1"/>
              </a:solidFill>
            </a:endParaRPr>
          </a:p>
        </p:txBody>
      </p:sp>
      <p:pic>
        <p:nvPicPr>
          <p:cNvPr id="39" name="Picture 38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BD742056-235B-3089-B718-DF9D8D241E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280" y="85970"/>
            <a:ext cx="305581" cy="23330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D08635ED-3159-8F63-3000-0B91FBA761F8}"/>
              </a:ext>
            </a:extLst>
          </p:cNvPr>
          <p:cNvSpPr txBox="1"/>
          <p:nvPr/>
        </p:nvSpPr>
        <p:spPr>
          <a:xfrm>
            <a:off x="4074167" y="104532"/>
            <a:ext cx="6390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>
                <a:solidFill>
                  <a:schemeClr val="bg1"/>
                </a:solidFill>
              </a:rPr>
              <a:t>LitePaas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6FFA03-3AA2-6258-77FB-08C377635638}"/>
              </a:ext>
            </a:extLst>
          </p:cNvPr>
          <p:cNvSpPr/>
          <p:nvPr/>
        </p:nvSpPr>
        <p:spPr>
          <a:xfrm>
            <a:off x="4795143" y="2596229"/>
            <a:ext cx="2739915" cy="215444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1CA890-8948-E25B-91D7-CE8AB392A988}"/>
              </a:ext>
            </a:extLst>
          </p:cNvPr>
          <p:cNvSpPr txBox="1"/>
          <p:nvPr/>
        </p:nvSpPr>
        <p:spPr>
          <a:xfrm>
            <a:off x="4713264" y="2403126"/>
            <a:ext cx="6748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/>
              <a:t>Mật khẩu: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48FD33-4D9D-81E2-4A17-7E1BE037CA28}"/>
              </a:ext>
            </a:extLst>
          </p:cNvPr>
          <p:cNvSpPr/>
          <p:nvPr/>
        </p:nvSpPr>
        <p:spPr>
          <a:xfrm>
            <a:off x="4799084" y="3388955"/>
            <a:ext cx="2739915" cy="215444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bg1"/>
                </a:solidFill>
              </a:rPr>
              <a:t>Đổi mật khẩu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CE0526-1AC2-D73C-54A4-4F4601694A5E}"/>
              </a:ext>
            </a:extLst>
          </p:cNvPr>
          <p:cNvSpPr txBox="1"/>
          <p:nvPr/>
        </p:nvSpPr>
        <p:spPr>
          <a:xfrm>
            <a:off x="5307153" y="2100900"/>
            <a:ext cx="165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Đổi mật khẩu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DDE743-D56F-62E8-D5EF-E9077751CC0A}"/>
              </a:ext>
            </a:extLst>
          </p:cNvPr>
          <p:cNvSpPr/>
          <p:nvPr/>
        </p:nvSpPr>
        <p:spPr>
          <a:xfrm>
            <a:off x="4799084" y="3048883"/>
            <a:ext cx="2739915" cy="215444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457E9D-216C-3016-37C4-CF7330E89E79}"/>
              </a:ext>
            </a:extLst>
          </p:cNvPr>
          <p:cNvSpPr txBox="1"/>
          <p:nvPr/>
        </p:nvSpPr>
        <p:spPr>
          <a:xfrm>
            <a:off x="4713264" y="2846170"/>
            <a:ext cx="120211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/>
              <a:t>Nhập lại mật khẩu:</a:t>
            </a:r>
          </a:p>
        </p:txBody>
      </p:sp>
      <p:pic>
        <p:nvPicPr>
          <p:cNvPr id="28" name="Picture 27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33118EB5-FA0E-5D7A-B6F4-869DF950AF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510" y="1442406"/>
            <a:ext cx="930981" cy="71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000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3DF6D3-5E27-E6E0-06EF-CECA9EC67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DB1189D-D714-3628-EC74-6307D02DC3CF}"/>
              </a:ext>
            </a:extLst>
          </p:cNvPr>
          <p:cNvSpPr/>
          <p:nvPr/>
        </p:nvSpPr>
        <p:spPr>
          <a:xfrm>
            <a:off x="0" y="0"/>
            <a:ext cx="12192000" cy="412955"/>
          </a:xfrm>
          <a:prstGeom prst="rect">
            <a:avLst/>
          </a:prstGeom>
          <a:solidFill>
            <a:srgbClr val="1E2939"/>
          </a:solidFill>
          <a:ln>
            <a:solidFill>
              <a:srgbClr val="1E29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F35E2E-A60A-B891-DE59-7968A87B9951}"/>
              </a:ext>
            </a:extLst>
          </p:cNvPr>
          <p:cNvSpPr/>
          <p:nvPr/>
        </p:nvSpPr>
        <p:spPr>
          <a:xfrm>
            <a:off x="0" y="5712542"/>
            <a:ext cx="12192000" cy="1145458"/>
          </a:xfrm>
          <a:prstGeom prst="rect">
            <a:avLst/>
          </a:prstGeom>
          <a:solidFill>
            <a:srgbClr val="1018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3062C48-30B7-AF1E-F369-1A9F7C2FB95F}"/>
              </a:ext>
            </a:extLst>
          </p:cNvPr>
          <p:cNvCxnSpPr>
            <a:cxnSpLocks/>
          </p:cNvCxnSpPr>
          <p:nvPr/>
        </p:nvCxnSpPr>
        <p:spPr>
          <a:xfrm>
            <a:off x="3667432" y="6587613"/>
            <a:ext cx="4857136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54FC200-2D5F-C9AA-1165-DB4B7551FEF0}"/>
              </a:ext>
            </a:extLst>
          </p:cNvPr>
          <p:cNvSpPr/>
          <p:nvPr/>
        </p:nvSpPr>
        <p:spPr>
          <a:xfrm>
            <a:off x="3662131" y="487867"/>
            <a:ext cx="4857136" cy="519364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5E17DC40-8EA5-D6F9-6708-2FFEFBC2CF70}"/>
              </a:ext>
            </a:extLst>
          </p:cNvPr>
          <p:cNvSpPr/>
          <p:nvPr/>
        </p:nvSpPr>
        <p:spPr>
          <a:xfrm>
            <a:off x="7675699" y="85970"/>
            <a:ext cx="797741" cy="265736"/>
          </a:xfrm>
          <a:prstGeom prst="flowChartTerminator">
            <a:avLst/>
          </a:prstGeom>
          <a:solidFill>
            <a:srgbClr val="F2F2F2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FB87B9F9-A88D-5704-84C7-09E0936AEC48}"/>
              </a:ext>
            </a:extLst>
          </p:cNvPr>
          <p:cNvSpPr>
            <a:spLocks/>
          </p:cNvSpPr>
          <p:nvPr/>
        </p:nvSpPr>
        <p:spPr>
          <a:xfrm>
            <a:off x="7709542" y="117217"/>
            <a:ext cx="207020" cy="200246"/>
          </a:xfrm>
          <a:prstGeom prst="flowChartConnector">
            <a:avLst/>
          </a:prstGeom>
          <a:solidFill>
            <a:srgbClr val="04D7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2B3AB0-BBD6-752D-D3D7-753167CFE3D6}"/>
              </a:ext>
            </a:extLst>
          </p:cNvPr>
          <p:cNvSpPr/>
          <p:nvPr/>
        </p:nvSpPr>
        <p:spPr>
          <a:xfrm>
            <a:off x="3667432" y="5773751"/>
            <a:ext cx="1577693" cy="746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4D7F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LitePaas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4D7F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Cung cấp dịch vụ đám mây và giải pháp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Đảm bảo hiệu suất ổn định, bảo mật tối đa, hỗ trợ kỹ thuật tận tâm.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4D7F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231849-3821-F230-18F7-14FE5F524EFF}"/>
              </a:ext>
            </a:extLst>
          </p:cNvPr>
          <p:cNvSpPr/>
          <p:nvPr/>
        </p:nvSpPr>
        <p:spPr>
          <a:xfrm>
            <a:off x="5300533" y="5742260"/>
            <a:ext cx="1577693" cy="74632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4D7F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Hỗ trợ 24/7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Đội ngũ hỗ trợ kỹ thuật của chúng tôi luôn sẵn sàng hỗ trợ bạn 24/24h.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Email: support@LitePaas.vn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Hotline: 1900 1234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15E53B-EE41-B54F-3CFC-5FEE5180A859}"/>
              </a:ext>
            </a:extLst>
          </p:cNvPr>
          <p:cNvSpPr/>
          <p:nvPr/>
        </p:nvSpPr>
        <p:spPr>
          <a:xfrm>
            <a:off x="6941574" y="5773751"/>
            <a:ext cx="1577693" cy="74632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4D7F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Kết nối với chúng tôi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hlinkClick r:id="rId3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EE571B-A3FD-3BE6-1115-500235B2C88C}"/>
              </a:ext>
            </a:extLst>
          </p:cNvPr>
          <p:cNvSpPr txBox="1"/>
          <p:nvPr/>
        </p:nvSpPr>
        <p:spPr>
          <a:xfrm flipH="1">
            <a:off x="7675699" y="119367"/>
            <a:ext cx="27912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DV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D47F41-96E2-576F-2CB0-6AE2038F36C4}"/>
              </a:ext>
            </a:extLst>
          </p:cNvPr>
          <p:cNvSpPr txBox="1"/>
          <p:nvPr/>
        </p:nvSpPr>
        <p:spPr>
          <a:xfrm>
            <a:off x="7845729" y="118235"/>
            <a:ext cx="56792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Đinh vux…</a:t>
            </a:r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33F36FB7-BBD2-CF46-C1D0-C00062536A43}"/>
              </a:ext>
            </a:extLst>
          </p:cNvPr>
          <p:cNvSpPr/>
          <p:nvPr/>
        </p:nvSpPr>
        <p:spPr>
          <a:xfrm>
            <a:off x="8345322" y="187708"/>
            <a:ext cx="5105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Flowchart: Terminator 33">
            <a:extLst>
              <a:ext uri="{FF2B5EF4-FFF2-40B4-BE49-F238E27FC236}">
                <a16:creationId xmlns:a16="http://schemas.microsoft.com/office/drawing/2014/main" id="{76383738-F490-6EEC-029D-FFFA461B0964}"/>
              </a:ext>
            </a:extLst>
          </p:cNvPr>
          <p:cNvSpPr/>
          <p:nvPr/>
        </p:nvSpPr>
        <p:spPr>
          <a:xfrm>
            <a:off x="7068270" y="6154948"/>
            <a:ext cx="419346" cy="228506"/>
          </a:xfrm>
          <a:prstGeom prst="flowChartTerminator">
            <a:avLst/>
          </a:prstGeom>
          <a:solidFill>
            <a:srgbClr val="F2F2F2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Zalo</a:t>
            </a:r>
          </a:p>
        </p:txBody>
      </p:sp>
      <p:sp>
        <p:nvSpPr>
          <p:cNvPr id="35" name="Flowchart: Terminator 34">
            <a:extLst>
              <a:ext uri="{FF2B5EF4-FFF2-40B4-BE49-F238E27FC236}">
                <a16:creationId xmlns:a16="http://schemas.microsoft.com/office/drawing/2014/main" id="{F85BD9EC-4A20-6741-83A5-81018D5E40C9}"/>
              </a:ext>
            </a:extLst>
          </p:cNvPr>
          <p:cNvSpPr/>
          <p:nvPr/>
        </p:nvSpPr>
        <p:spPr>
          <a:xfrm>
            <a:off x="7544344" y="6146913"/>
            <a:ext cx="602770" cy="244576"/>
          </a:xfrm>
          <a:prstGeom prst="flowChartTerminator">
            <a:avLst/>
          </a:prstGeom>
          <a:solidFill>
            <a:srgbClr val="F2F2F2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Facebook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E3B760-B3B9-9433-9A12-1AE3CFD9827C}"/>
              </a:ext>
            </a:extLst>
          </p:cNvPr>
          <p:cNvSpPr txBox="1"/>
          <p:nvPr/>
        </p:nvSpPr>
        <p:spPr>
          <a:xfrm>
            <a:off x="5388078" y="6642429"/>
            <a:ext cx="14158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© 2025 </a:t>
            </a: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LitePaas</a:t>
            </a:r>
            <a:r>
              <a:rPr kumimoji="0" lang="vi-VN" sz="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 Tất cả các quyền được bảo lưu.</a:t>
            </a: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9" name="Picture 38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8DB9C81F-8305-6959-C242-C163D628FA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280" y="85970"/>
            <a:ext cx="305581" cy="23330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7B709072-1909-35CA-D122-E4E760FBD2B6}"/>
              </a:ext>
            </a:extLst>
          </p:cNvPr>
          <p:cNvSpPr txBox="1"/>
          <p:nvPr/>
        </p:nvSpPr>
        <p:spPr>
          <a:xfrm>
            <a:off x="4074167" y="104532"/>
            <a:ext cx="6390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LitePaas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FC457B5-E395-7E41-77A2-088E6EB4BF88}"/>
              </a:ext>
            </a:extLst>
          </p:cNvPr>
          <p:cNvSpPr/>
          <p:nvPr/>
        </p:nvSpPr>
        <p:spPr>
          <a:xfrm>
            <a:off x="3942078" y="635830"/>
            <a:ext cx="4012743" cy="417435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DC4B2F1-1065-D9F0-DFA1-1D148B823F2B}"/>
              </a:ext>
            </a:extLst>
          </p:cNvPr>
          <p:cNvSpPr txBox="1"/>
          <p:nvPr/>
        </p:nvSpPr>
        <p:spPr>
          <a:xfrm>
            <a:off x="5467861" y="1145509"/>
            <a:ext cx="30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74D3F6AC-8CDE-43C1-BFE6-8BF66868B72E}"/>
              </a:ext>
            </a:extLst>
          </p:cNvPr>
          <p:cNvSpPr/>
          <p:nvPr/>
        </p:nvSpPr>
        <p:spPr>
          <a:xfrm>
            <a:off x="3929300" y="585334"/>
            <a:ext cx="4012743" cy="912728"/>
          </a:xfrm>
          <a:prstGeom prst="round2SameRect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  <a:shade val="30000"/>
                  <a:satMod val="115000"/>
                </a:schemeClr>
              </a:gs>
              <a:gs pos="50000">
                <a:schemeClr val="tx2">
                  <a:lumMod val="50000"/>
                  <a:lumOff val="50000"/>
                  <a:shade val="67500"/>
                  <a:satMod val="115000"/>
                </a:schemeClr>
              </a:gs>
              <a:gs pos="100000">
                <a:schemeClr val="tx2">
                  <a:lumMod val="50000"/>
                  <a:lumOff val="50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03E602-57B9-1C1D-A8F9-DE4D6F5E7CB6}"/>
              </a:ext>
            </a:extLst>
          </p:cNvPr>
          <p:cNvSpPr txBox="1"/>
          <p:nvPr/>
        </p:nvSpPr>
        <p:spPr>
          <a:xfrm>
            <a:off x="4961669" y="624894"/>
            <a:ext cx="2258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</a:rPr>
              <a:t>Thanh toán VNPay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52D1AA-CFC8-FA5E-D64A-6BD21818C93F}"/>
              </a:ext>
            </a:extLst>
          </p:cNvPr>
          <p:cNvSpPr txBox="1"/>
          <p:nvPr/>
        </p:nvSpPr>
        <p:spPr>
          <a:xfrm>
            <a:off x="3997456" y="1537929"/>
            <a:ext cx="112290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800" b="1" i="0">
                <a:effectLst/>
                <a:latin typeface="Arial" panose="020B0604020202020204" pitchFamily="34" charset="0"/>
              </a:rPr>
              <a:t>Mã đơn hàng:</a:t>
            </a:r>
            <a:endParaRPr lang="en-US" sz="80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245E3BB-38EB-2287-DC06-793EC67A1645}"/>
              </a:ext>
            </a:extLst>
          </p:cNvPr>
          <p:cNvSpPr/>
          <p:nvPr/>
        </p:nvSpPr>
        <p:spPr>
          <a:xfrm>
            <a:off x="4062669" y="1720487"/>
            <a:ext cx="3771562" cy="298250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solidFill>
                  <a:schemeClr val="tx1"/>
                </a:solidFill>
              </a:rPr>
              <a:t>1234567890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38CDD0-28CA-65FD-5B8E-01ACD99725B8}"/>
              </a:ext>
            </a:extLst>
          </p:cNvPr>
          <p:cNvSpPr txBox="1"/>
          <p:nvPr/>
        </p:nvSpPr>
        <p:spPr>
          <a:xfrm>
            <a:off x="3997456" y="2088792"/>
            <a:ext cx="112290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Số tiền (VND):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B582785-1F80-BDDD-4457-273137EEB1C0}"/>
              </a:ext>
            </a:extLst>
          </p:cNvPr>
          <p:cNvSpPr/>
          <p:nvPr/>
        </p:nvSpPr>
        <p:spPr>
          <a:xfrm>
            <a:off x="4062669" y="2292473"/>
            <a:ext cx="3771562" cy="298250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solidFill>
                  <a:schemeClr val="tx1"/>
                </a:solidFill>
              </a:rPr>
              <a:t>10.000 vnđ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20AE916-8DD9-0113-CB39-DE71CEBA1114}"/>
              </a:ext>
            </a:extLst>
          </p:cNvPr>
          <p:cNvSpPr txBox="1"/>
          <p:nvPr/>
        </p:nvSpPr>
        <p:spPr>
          <a:xfrm>
            <a:off x="3980648" y="2665732"/>
            <a:ext cx="140743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800" b="1"/>
              <a:t>Thông tin đơn hàng</a:t>
            </a:r>
            <a:r>
              <a:rPr lang="vi-VN" sz="800" b="1" i="0">
                <a:solidFill>
                  <a:srgbClr val="2C3E50"/>
                </a:solidFill>
                <a:effectLst/>
              </a:rPr>
              <a:t>:</a:t>
            </a:r>
            <a:endParaRPr lang="en-US" sz="80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CF0BB2BF-AFA1-6EC8-610F-F7741FE0ADBB}"/>
              </a:ext>
            </a:extLst>
          </p:cNvPr>
          <p:cNvSpPr/>
          <p:nvPr/>
        </p:nvSpPr>
        <p:spPr>
          <a:xfrm>
            <a:off x="4050570" y="2871360"/>
            <a:ext cx="3771562" cy="298250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z="800">
                <a:solidFill>
                  <a:schemeClr val="tx1"/>
                </a:solidFill>
              </a:rPr>
              <a:t>Thanh toán đơn hàng</a:t>
            </a:r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60EF8EF-E7C7-1186-955B-5E280EE56CEA}"/>
              </a:ext>
            </a:extLst>
          </p:cNvPr>
          <p:cNvSpPr txBox="1"/>
          <p:nvPr/>
        </p:nvSpPr>
        <p:spPr>
          <a:xfrm>
            <a:off x="3997455" y="3242587"/>
            <a:ext cx="112290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Loại giao dịch: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08E41DD1-846B-B85F-E4A4-34A6158BEB24}"/>
              </a:ext>
            </a:extLst>
          </p:cNvPr>
          <p:cNvSpPr/>
          <p:nvPr/>
        </p:nvSpPr>
        <p:spPr>
          <a:xfrm>
            <a:off x="4050570" y="3453715"/>
            <a:ext cx="3771562" cy="298250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solidFill>
                  <a:schemeClr val="tx1"/>
                </a:solidFill>
              </a:rPr>
              <a:t>Thanh toán hóa đơn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0E0DEDC-7783-40FE-D9BD-51CDC77E687D}"/>
              </a:ext>
            </a:extLst>
          </p:cNvPr>
          <p:cNvSpPr txBox="1"/>
          <p:nvPr/>
        </p:nvSpPr>
        <p:spPr>
          <a:xfrm>
            <a:off x="3997456" y="3828797"/>
            <a:ext cx="112290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>
                <a:latin typeface="Arial" panose="020B0604020202020204" pitchFamily="34" charset="0"/>
                <a:cs typeface="Arial" panose="020B0604020202020204" pitchFamily="34" charset="0"/>
              </a:rPr>
              <a:t>Ngân hàng: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6BCA1E05-1BCF-AA2A-F1A0-06FDECE0F5C6}"/>
              </a:ext>
            </a:extLst>
          </p:cNvPr>
          <p:cNvSpPr/>
          <p:nvPr/>
        </p:nvSpPr>
        <p:spPr>
          <a:xfrm>
            <a:off x="4050570" y="4023474"/>
            <a:ext cx="3771562" cy="298250"/>
          </a:xfrm>
          <a:prstGeom prst="round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solidFill>
                  <a:schemeClr val="tx1"/>
                </a:solidFill>
              </a:rPr>
              <a:t>Chọn ngân hàng</a:t>
            </a:r>
          </a:p>
        </p:txBody>
      </p:sp>
      <p:sp>
        <p:nvSpPr>
          <p:cNvPr id="73" name="Rectangle: Top Corners Rounded 72">
            <a:extLst>
              <a:ext uri="{FF2B5EF4-FFF2-40B4-BE49-F238E27FC236}">
                <a16:creationId xmlns:a16="http://schemas.microsoft.com/office/drawing/2014/main" id="{0BA00D7B-B550-505E-9A29-851E1CDB123C}"/>
              </a:ext>
            </a:extLst>
          </p:cNvPr>
          <p:cNvSpPr/>
          <p:nvPr/>
        </p:nvSpPr>
        <p:spPr>
          <a:xfrm rot="10800000">
            <a:off x="3942078" y="4946806"/>
            <a:ext cx="4012743" cy="698198"/>
          </a:xfrm>
          <a:prstGeom prst="round2Same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1C39FA2-FC05-ACC0-DE05-2A74054B0F49}"/>
              </a:ext>
            </a:extLst>
          </p:cNvPr>
          <p:cNvSpPr txBox="1"/>
          <p:nvPr/>
        </p:nvSpPr>
        <p:spPr>
          <a:xfrm>
            <a:off x="3903416" y="4956620"/>
            <a:ext cx="28652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600" b="1"/>
              <a:t> Hướng dẫn thanh toán</a:t>
            </a:r>
          </a:p>
          <a:p>
            <a:r>
              <a:rPr lang="vi-VN" sz="600"/>
              <a:t>Nhập thông tin đơn hàng và số tiền cần thanh toán</a:t>
            </a:r>
          </a:p>
          <a:p>
            <a:r>
              <a:rPr lang="vi-VN" sz="600"/>
              <a:t>Chọn ngân hàng nếu muốn thanh toán qua ngân hàng cụ thể</a:t>
            </a:r>
          </a:p>
          <a:p>
            <a:r>
              <a:rPr lang="vi-VN" sz="600"/>
              <a:t>Hệ thống sẽ chuyển hướng đến cổng thanh toán VNPay</a:t>
            </a:r>
          </a:p>
          <a:p>
            <a:r>
              <a:rPr lang="vi-VN" sz="600"/>
              <a:t>Thực hiện thanh toán theo hướng dẫn trên trang VNPay</a:t>
            </a:r>
          </a:p>
          <a:p>
            <a:r>
              <a:rPr lang="vi-VN" sz="600"/>
              <a:t>Sau khi thanh toán, VNPay sẽ chuyển hướng về trang kết quả</a:t>
            </a:r>
          </a:p>
          <a:p>
            <a:r>
              <a:rPr lang="vi-VN" sz="600" b="1"/>
              <a:t>Mở Console (F12) để xem chi tiết kết quả trả về</a:t>
            </a:r>
            <a:endParaRPr lang="vi-VN" sz="600"/>
          </a:p>
          <a:p>
            <a:endParaRPr lang="en-US" sz="600"/>
          </a:p>
        </p:txBody>
      </p: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7B186D61-80FD-F7C8-6125-8A15483CE943}"/>
              </a:ext>
            </a:extLst>
          </p:cNvPr>
          <p:cNvSpPr/>
          <p:nvPr/>
        </p:nvSpPr>
        <p:spPr>
          <a:xfrm rot="10800000">
            <a:off x="7578163" y="4169006"/>
            <a:ext cx="97536" cy="66826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F19F49CB-5438-C30C-5F87-DA0098B0AA99}"/>
              </a:ext>
            </a:extLst>
          </p:cNvPr>
          <p:cNvSpPr/>
          <p:nvPr/>
        </p:nvSpPr>
        <p:spPr>
          <a:xfrm>
            <a:off x="5619961" y="4465320"/>
            <a:ext cx="956099" cy="258611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Thanh toán</a:t>
            </a:r>
          </a:p>
        </p:txBody>
      </p:sp>
    </p:spTree>
    <p:extLst>
      <p:ext uri="{BB962C8B-B14F-4D97-AF65-F5344CB8AC3E}">
        <p14:creationId xmlns:p14="http://schemas.microsoft.com/office/powerpoint/2010/main" val="465363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CF5385-99EB-1904-BE2D-C73B97B80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C49CEE-4797-5946-4746-4833A59E7EDC}"/>
              </a:ext>
            </a:extLst>
          </p:cNvPr>
          <p:cNvSpPr/>
          <p:nvPr/>
        </p:nvSpPr>
        <p:spPr>
          <a:xfrm>
            <a:off x="0" y="0"/>
            <a:ext cx="12192000" cy="412955"/>
          </a:xfrm>
          <a:prstGeom prst="rect">
            <a:avLst/>
          </a:prstGeom>
          <a:solidFill>
            <a:srgbClr val="1E2939"/>
          </a:solidFill>
          <a:ln>
            <a:solidFill>
              <a:srgbClr val="1E29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56C334-26F3-9582-1577-69F681163333}"/>
              </a:ext>
            </a:extLst>
          </p:cNvPr>
          <p:cNvSpPr/>
          <p:nvPr/>
        </p:nvSpPr>
        <p:spPr>
          <a:xfrm>
            <a:off x="0" y="5712542"/>
            <a:ext cx="12192000" cy="1145458"/>
          </a:xfrm>
          <a:prstGeom prst="rect">
            <a:avLst/>
          </a:prstGeom>
          <a:solidFill>
            <a:srgbClr val="1018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AA7218-EEC2-99B2-A80E-731CDA991E70}"/>
              </a:ext>
            </a:extLst>
          </p:cNvPr>
          <p:cNvCxnSpPr>
            <a:cxnSpLocks/>
          </p:cNvCxnSpPr>
          <p:nvPr/>
        </p:nvCxnSpPr>
        <p:spPr>
          <a:xfrm>
            <a:off x="3667432" y="6587613"/>
            <a:ext cx="4857136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102DA8AB-3FDD-1C70-3DA0-E603A464619D}"/>
              </a:ext>
            </a:extLst>
          </p:cNvPr>
          <p:cNvSpPr/>
          <p:nvPr/>
        </p:nvSpPr>
        <p:spPr>
          <a:xfrm>
            <a:off x="3651455" y="429822"/>
            <a:ext cx="4857136" cy="517266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B400D030-BEBE-AF17-0ABE-EE0252FE56B7}"/>
              </a:ext>
            </a:extLst>
          </p:cNvPr>
          <p:cNvSpPr/>
          <p:nvPr/>
        </p:nvSpPr>
        <p:spPr>
          <a:xfrm>
            <a:off x="7675699" y="85970"/>
            <a:ext cx="797741" cy="265736"/>
          </a:xfrm>
          <a:prstGeom prst="flowChartTerminator">
            <a:avLst/>
          </a:prstGeom>
          <a:solidFill>
            <a:srgbClr val="F2F2F2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171EE2B9-AB75-4DD4-3D7D-E7EED4F8F63D}"/>
              </a:ext>
            </a:extLst>
          </p:cNvPr>
          <p:cNvSpPr>
            <a:spLocks/>
          </p:cNvSpPr>
          <p:nvPr/>
        </p:nvSpPr>
        <p:spPr>
          <a:xfrm>
            <a:off x="7709542" y="117217"/>
            <a:ext cx="207020" cy="200246"/>
          </a:xfrm>
          <a:prstGeom prst="flowChartConnector">
            <a:avLst/>
          </a:prstGeom>
          <a:solidFill>
            <a:srgbClr val="04D7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E39ED8-F4C5-9C45-F2DA-A58119738900}"/>
              </a:ext>
            </a:extLst>
          </p:cNvPr>
          <p:cNvSpPr/>
          <p:nvPr/>
        </p:nvSpPr>
        <p:spPr>
          <a:xfrm>
            <a:off x="3667432" y="5773751"/>
            <a:ext cx="1577693" cy="746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4D7F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LitePaas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4D7F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Cung cấp dịch vụ đám mây và giải pháp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Đảm bảo hiệu suất ổn định, bảo mật tối đa, hỗ trợ kỹ thuật tận tâm.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4D7F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6EC0222-0F5D-3859-22B6-C932628675FD}"/>
              </a:ext>
            </a:extLst>
          </p:cNvPr>
          <p:cNvSpPr/>
          <p:nvPr/>
        </p:nvSpPr>
        <p:spPr>
          <a:xfrm>
            <a:off x="5307153" y="5773751"/>
            <a:ext cx="1577693" cy="74632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4D7F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Hỗ trợ 24/7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Đội ngũ hỗ trợ kỹ thuật của chúng tôi luôn sẵn sàng hỗ trợ bạn 24/24h.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Email: support@LitePaas.vn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Hotline: 1900 1234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CD47D68-AB8B-7B8F-FC9E-6C7787B5EC6A}"/>
              </a:ext>
            </a:extLst>
          </p:cNvPr>
          <p:cNvSpPr/>
          <p:nvPr/>
        </p:nvSpPr>
        <p:spPr>
          <a:xfrm>
            <a:off x="6941574" y="5773751"/>
            <a:ext cx="1577693" cy="74632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4D7F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Kết nối với chúng tôi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hlinkClick r:id="rId3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068885-37D4-A5D1-EE25-4E0D33F5F6C1}"/>
              </a:ext>
            </a:extLst>
          </p:cNvPr>
          <p:cNvSpPr txBox="1"/>
          <p:nvPr/>
        </p:nvSpPr>
        <p:spPr>
          <a:xfrm flipH="1">
            <a:off x="7675699" y="119367"/>
            <a:ext cx="27912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DV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9027CB4-7124-7DC8-AD94-F1260A2157FD}"/>
              </a:ext>
            </a:extLst>
          </p:cNvPr>
          <p:cNvSpPr txBox="1"/>
          <p:nvPr/>
        </p:nvSpPr>
        <p:spPr>
          <a:xfrm>
            <a:off x="7845729" y="118235"/>
            <a:ext cx="56792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Đinh vux…</a:t>
            </a:r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B0D1C1C6-9AFD-0FD2-5C37-6DBEC43341BB}"/>
              </a:ext>
            </a:extLst>
          </p:cNvPr>
          <p:cNvSpPr/>
          <p:nvPr/>
        </p:nvSpPr>
        <p:spPr>
          <a:xfrm>
            <a:off x="8345322" y="187708"/>
            <a:ext cx="5105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Flowchart: Terminator 33">
            <a:extLst>
              <a:ext uri="{FF2B5EF4-FFF2-40B4-BE49-F238E27FC236}">
                <a16:creationId xmlns:a16="http://schemas.microsoft.com/office/drawing/2014/main" id="{C0E1BB41-4055-6DEE-D816-6B2428D5F834}"/>
              </a:ext>
            </a:extLst>
          </p:cNvPr>
          <p:cNvSpPr/>
          <p:nvPr/>
        </p:nvSpPr>
        <p:spPr>
          <a:xfrm>
            <a:off x="7068270" y="6154948"/>
            <a:ext cx="419346" cy="228506"/>
          </a:xfrm>
          <a:prstGeom prst="flowChartTerminator">
            <a:avLst/>
          </a:prstGeom>
          <a:solidFill>
            <a:srgbClr val="F2F2F2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Zalo</a:t>
            </a:r>
          </a:p>
        </p:txBody>
      </p:sp>
      <p:sp>
        <p:nvSpPr>
          <p:cNvPr id="35" name="Flowchart: Terminator 34">
            <a:extLst>
              <a:ext uri="{FF2B5EF4-FFF2-40B4-BE49-F238E27FC236}">
                <a16:creationId xmlns:a16="http://schemas.microsoft.com/office/drawing/2014/main" id="{1741BD6E-80D0-F8AA-FF6D-2036699AB546}"/>
              </a:ext>
            </a:extLst>
          </p:cNvPr>
          <p:cNvSpPr/>
          <p:nvPr/>
        </p:nvSpPr>
        <p:spPr>
          <a:xfrm>
            <a:off x="7544344" y="6146913"/>
            <a:ext cx="602770" cy="244576"/>
          </a:xfrm>
          <a:prstGeom prst="flowChartTerminator">
            <a:avLst/>
          </a:prstGeom>
          <a:solidFill>
            <a:srgbClr val="F2F2F2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Facebook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002614-6FEB-EB5A-393A-0E1164E3009D}"/>
              </a:ext>
            </a:extLst>
          </p:cNvPr>
          <p:cNvSpPr txBox="1"/>
          <p:nvPr/>
        </p:nvSpPr>
        <p:spPr>
          <a:xfrm>
            <a:off x="5388078" y="6642429"/>
            <a:ext cx="14158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© 2025 </a:t>
            </a: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LitePaas</a:t>
            </a:r>
            <a:r>
              <a:rPr kumimoji="0" lang="vi-VN" sz="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 Tất cả các quyền được bảo lưu.</a:t>
            </a: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9" name="Picture 38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C8E847B7-2032-7A1B-8728-3A25E4A581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280" y="85970"/>
            <a:ext cx="305581" cy="23330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C35C731-FA08-1DF1-9C40-A0AF81163F2B}"/>
              </a:ext>
            </a:extLst>
          </p:cNvPr>
          <p:cNvSpPr txBox="1"/>
          <p:nvPr/>
        </p:nvSpPr>
        <p:spPr>
          <a:xfrm>
            <a:off x="4074167" y="104532"/>
            <a:ext cx="6390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LitePaas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B4A1935-A32F-9967-AAFC-64115FA07AED}"/>
              </a:ext>
            </a:extLst>
          </p:cNvPr>
          <p:cNvSpPr/>
          <p:nvPr/>
        </p:nvSpPr>
        <p:spPr>
          <a:xfrm>
            <a:off x="5076096" y="678502"/>
            <a:ext cx="3455654" cy="188943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75A880-29BF-EA5C-F9FB-AAB4E64A10ED}"/>
              </a:ext>
            </a:extLst>
          </p:cNvPr>
          <p:cNvSpPr/>
          <p:nvPr/>
        </p:nvSpPr>
        <p:spPr>
          <a:xfrm>
            <a:off x="3990834" y="555089"/>
            <a:ext cx="943897" cy="11535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C89B8B-6287-5269-4FA1-E9E9F3186EB9}"/>
              </a:ext>
            </a:extLst>
          </p:cNvPr>
          <p:cNvSpPr/>
          <p:nvPr/>
        </p:nvSpPr>
        <p:spPr>
          <a:xfrm>
            <a:off x="5262524" y="1176485"/>
            <a:ext cx="3082798" cy="12428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1432B5-3F6F-A60B-4230-D3BF2CBC76FF}"/>
              </a:ext>
            </a:extLst>
          </p:cNvPr>
          <p:cNvSpPr/>
          <p:nvPr/>
        </p:nvSpPr>
        <p:spPr>
          <a:xfrm>
            <a:off x="5357596" y="1540989"/>
            <a:ext cx="951763" cy="77930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68D91B1-1B78-CD1F-045F-88EBB18E1DB6}"/>
              </a:ext>
            </a:extLst>
          </p:cNvPr>
          <p:cNvSpPr/>
          <p:nvPr/>
        </p:nvSpPr>
        <p:spPr>
          <a:xfrm>
            <a:off x="4074167" y="721360"/>
            <a:ext cx="777233" cy="1574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>
                <a:solidFill>
                  <a:schemeClr val="tx1"/>
                </a:solidFill>
              </a:rPr>
              <a:t>Tất cả dịch vụ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639136D-08D4-47E2-D4A6-0F0309A85800}"/>
              </a:ext>
            </a:extLst>
          </p:cNvPr>
          <p:cNvSpPr/>
          <p:nvPr/>
        </p:nvSpPr>
        <p:spPr>
          <a:xfrm>
            <a:off x="4074167" y="914724"/>
            <a:ext cx="777233" cy="157480"/>
          </a:xfrm>
          <a:prstGeom prst="roundRect">
            <a:avLst/>
          </a:prstGeom>
          <a:solidFill>
            <a:srgbClr val="1E29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>
                <a:solidFill>
                  <a:schemeClr val="bg1"/>
                </a:solidFill>
              </a:rPr>
              <a:t>Dịch vụ của tôi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23D24A1-30B4-0B8F-53B7-694004F6E391}"/>
              </a:ext>
            </a:extLst>
          </p:cNvPr>
          <p:cNvSpPr/>
          <p:nvPr/>
        </p:nvSpPr>
        <p:spPr>
          <a:xfrm>
            <a:off x="4074167" y="1095342"/>
            <a:ext cx="777233" cy="1574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>
                <a:solidFill>
                  <a:schemeClr val="tx1"/>
                </a:solidFill>
              </a:rPr>
              <a:t>Yêu cầu hỗ trợ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5D29363-293A-2FD1-F93B-4CB9FAA346CF}"/>
              </a:ext>
            </a:extLst>
          </p:cNvPr>
          <p:cNvSpPr/>
          <p:nvPr/>
        </p:nvSpPr>
        <p:spPr>
          <a:xfrm>
            <a:off x="4074167" y="1287328"/>
            <a:ext cx="777233" cy="1574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>
                <a:solidFill>
                  <a:schemeClr val="tx1"/>
                </a:solidFill>
              </a:rPr>
              <a:t>Hóa đơn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FCF86E7-A3C6-19CB-B655-A3E696383214}"/>
              </a:ext>
            </a:extLst>
          </p:cNvPr>
          <p:cNvSpPr/>
          <p:nvPr/>
        </p:nvSpPr>
        <p:spPr>
          <a:xfrm>
            <a:off x="4074167" y="1479314"/>
            <a:ext cx="777233" cy="1574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>
                <a:solidFill>
                  <a:schemeClr val="tx1"/>
                </a:solidFill>
              </a:rPr>
              <a:t>Lịch sử thanh toán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9B5CDC-2585-11B4-7937-24D16CDC0646}"/>
              </a:ext>
            </a:extLst>
          </p:cNvPr>
          <p:cNvSpPr txBox="1"/>
          <p:nvPr/>
        </p:nvSpPr>
        <p:spPr>
          <a:xfrm>
            <a:off x="5365131" y="749038"/>
            <a:ext cx="1769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Dịch vụ của tôi</a:t>
            </a:r>
          </a:p>
          <a:p>
            <a:endParaRPr lang="en-US" sz="12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D539F5-F706-5494-3CA3-DB9B9BD2AFEC}"/>
              </a:ext>
            </a:extLst>
          </p:cNvPr>
          <p:cNvSpPr txBox="1"/>
          <p:nvPr/>
        </p:nvSpPr>
        <p:spPr>
          <a:xfrm>
            <a:off x="5395186" y="1233211"/>
            <a:ext cx="2370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Dịch vụ của tôi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1DDC9D6E-E720-EB12-4EEE-CA86A6C0F3A2}"/>
              </a:ext>
            </a:extLst>
          </p:cNvPr>
          <p:cNvSpPr/>
          <p:nvPr/>
        </p:nvSpPr>
        <p:spPr>
          <a:xfrm>
            <a:off x="7709542" y="412955"/>
            <a:ext cx="704114" cy="36401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5156D112-612E-BBB0-9062-C0F12B58733A}"/>
              </a:ext>
            </a:extLst>
          </p:cNvPr>
          <p:cNvCxnSpPr>
            <a:cxnSpLocks/>
            <a:stCxn id="57" idx="1"/>
            <a:endCxn id="57" idx="3"/>
          </p:cNvCxnSpPr>
          <p:nvPr/>
        </p:nvCxnSpPr>
        <p:spPr>
          <a:xfrm>
            <a:off x="7709542" y="594964"/>
            <a:ext cx="70411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16FEDA82-69E6-2BBF-465C-B42A47A552C2}"/>
              </a:ext>
            </a:extLst>
          </p:cNvPr>
          <p:cNvSpPr txBox="1"/>
          <p:nvPr/>
        </p:nvSpPr>
        <p:spPr>
          <a:xfrm>
            <a:off x="7757710" y="429822"/>
            <a:ext cx="6337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/>
              <a:t>Thông tin tài khoản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D9ACF4B-B115-8D6F-9DD7-925ECAE23D0E}"/>
              </a:ext>
            </a:extLst>
          </p:cNvPr>
          <p:cNvSpPr txBox="1"/>
          <p:nvPr/>
        </p:nvSpPr>
        <p:spPr>
          <a:xfrm>
            <a:off x="7757710" y="612165"/>
            <a:ext cx="6337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>
                <a:solidFill>
                  <a:srgbClr val="FF0000"/>
                </a:solidFill>
              </a:rPr>
              <a:t>Đăng xuất</a:t>
            </a:r>
          </a:p>
        </p:txBody>
      </p:sp>
      <p:sp>
        <p:nvSpPr>
          <p:cNvPr id="28" name="Rectangle 4">
            <a:extLst>
              <a:ext uri="{FF2B5EF4-FFF2-40B4-BE49-F238E27FC236}">
                <a16:creationId xmlns:a16="http://schemas.microsoft.com/office/drawing/2014/main" id="{8312C150-28D7-4AE2-9258-DE8246039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4772" y="1632572"/>
            <a:ext cx="744161" cy="451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50784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600" b="1">
                <a:latin typeface="+mn-lt"/>
              </a:rPr>
              <a:t>GoLang</a:t>
            </a:r>
            <a:r>
              <a:rPr kumimoji="0" lang="en-US" altLang="en-US" sz="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Runtime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Môi trường chạy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CPU: </a:t>
            </a:r>
            <a:r>
              <a:rPr lang="en-US" altLang="en-US" sz="400">
                <a:latin typeface="+mn-lt"/>
              </a:rPr>
              <a:t>1</a:t>
            </a:r>
            <a:r>
              <a: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vCPU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RAM: </a:t>
            </a:r>
            <a:r>
              <a:rPr lang="en-US" altLang="en-US" sz="400">
                <a:latin typeface="+mn-lt"/>
              </a:rPr>
              <a:t>1</a:t>
            </a:r>
            <a:r>
              <a: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GB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Storage: 5 GB SSD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OS: Ubuntu 20.04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8E79CB8-B0C8-9BAA-DE00-0E8BF0D51FA1}"/>
              </a:ext>
            </a:extLst>
          </p:cNvPr>
          <p:cNvSpPr txBox="1"/>
          <p:nvPr/>
        </p:nvSpPr>
        <p:spPr>
          <a:xfrm>
            <a:off x="5354275" y="2114635"/>
            <a:ext cx="439256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">
                <a:highlight>
                  <a:srgbClr val="00FF00"/>
                </a:highlight>
              </a:rPr>
              <a:t>Đang chạy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262B68-7F51-5525-C14B-95AEDC3D9C62}"/>
              </a:ext>
            </a:extLst>
          </p:cNvPr>
          <p:cNvSpPr txBox="1"/>
          <p:nvPr/>
        </p:nvSpPr>
        <p:spPr>
          <a:xfrm>
            <a:off x="5869835" y="2114635"/>
            <a:ext cx="363220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">
                <a:solidFill>
                  <a:schemeClr val="tx2">
                    <a:lumMod val="75000"/>
                    <a:lumOff val="25000"/>
                  </a:schemeClr>
                </a:solidFill>
              </a:rPr>
              <a:t>Quản lý</a:t>
            </a:r>
          </a:p>
        </p:txBody>
      </p:sp>
    </p:spTree>
    <p:extLst>
      <p:ext uri="{BB962C8B-B14F-4D97-AF65-F5344CB8AC3E}">
        <p14:creationId xmlns:p14="http://schemas.microsoft.com/office/powerpoint/2010/main" val="3297001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891206-FBD9-5A2C-D112-B1532B4AD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9039D88-E4A6-E07F-C802-0B61348801AF}"/>
              </a:ext>
            </a:extLst>
          </p:cNvPr>
          <p:cNvSpPr/>
          <p:nvPr/>
        </p:nvSpPr>
        <p:spPr>
          <a:xfrm>
            <a:off x="0" y="0"/>
            <a:ext cx="12192000" cy="412955"/>
          </a:xfrm>
          <a:prstGeom prst="rect">
            <a:avLst/>
          </a:prstGeom>
          <a:solidFill>
            <a:srgbClr val="1E2939"/>
          </a:solidFill>
          <a:ln>
            <a:solidFill>
              <a:srgbClr val="1E29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5D45E9-3A98-4C1D-14F8-D4A8C16F9629}"/>
              </a:ext>
            </a:extLst>
          </p:cNvPr>
          <p:cNvSpPr/>
          <p:nvPr/>
        </p:nvSpPr>
        <p:spPr>
          <a:xfrm>
            <a:off x="0" y="5712542"/>
            <a:ext cx="12192000" cy="1145458"/>
          </a:xfrm>
          <a:prstGeom prst="rect">
            <a:avLst/>
          </a:prstGeom>
          <a:solidFill>
            <a:srgbClr val="1018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43F93D-91EA-4EEE-6F46-6515973F9C91}"/>
              </a:ext>
            </a:extLst>
          </p:cNvPr>
          <p:cNvCxnSpPr>
            <a:cxnSpLocks/>
          </p:cNvCxnSpPr>
          <p:nvPr/>
        </p:nvCxnSpPr>
        <p:spPr>
          <a:xfrm>
            <a:off x="3667432" y="6587613"/>
            <a:ext cx="4857136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0AC8B36-7826-6F9D-7DFB-49A9DC0CA03F}"/>
              </a:ext>
            </a:extLst>
          </p:cNvPr>
          <p:cNvSpPr/>
          <p:nvPr/>
        </p:nvSpPr>
        <p:spPr>
          <a:xfrm>
            <a:off x="3662131" y="487867"/>
            <a:ext cx="4857136" cy="519364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FFE0455E-D0D1-E735-F557-A93BEAD678DD}"/>
              </a:ext>
            </a:extLst>
          </p:cNvPr>
          <p:cNvSpPr/>
          <p:nvPr/>
        </p:nvSpPr>
        <p:spPr>
          <a:xfrm>
            <a:off x="7675699" y="85970"/>
            <a:ext cx="797741" cy="265736"/>
          </a:xfrm>
          <a:prstGeom prst="flowChartTerminator">
            <a:avLst/>
          </a:prstGeom>
          <a:solidFill>
            <a:srgbClr val="F2F2F2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908C178D-E868-DEBE-532D-9D421DAB14CB}"/>
              </a:ext>
            </a:extLst>
          </p:cNvPr>
          <p:cNvSpPr>
            <a:spLocks/>
          </p:cNvSpPr>
          <p:nvPr/>
        </p:nvSpPr>
        <p:spPr>
          <a:xfrm>
            <a:off x="7709542" y="117217"/>
            <a:ext cx="207020" cy="200246"/>
          </a:xfrm>
          <a:prstGeom prst="flowChartConnector">
            <a:avLst/>
          </a:prstGeom>
          <a:solidFill>
            <a:srgbClr val="04D7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E59B5B4-6823-85C0-BB46-01A7C6A09F1F}"/>
              </a:ext>
            </a:extLst>
          </p:cNvPr>
          <p:cNvSpPr/>
          <p:nvPr/>
        </p:nvSpPr>
        <p:spPr>
          <a:xfrm>
            <a:off x="3667432" y="5773751"/>
            <a:ext cx="1577693" cy="746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4D7F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LitePaas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4D7F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Cung cấp dịch vụ đám mây và giải pháp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Đảm bảo hiệu suất ổn định, bảo mật tối đa, hỗ trợ kỹ thuật tận tâm.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4D7F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980DB1-B759-7F92-478C-0D10235489B2}"/>
              </a:ext>
            </a:extLst>
          </p:cNvPr>
          <p:cNvSpPr/>
          <p:nvPr/>
        </p:nvSpPr>
        <p:spPr>
          <a:xfrm>
            <a:off x="5307153" y="5773751"/>
            <a:ext cx="1577693" cy="74632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4D7F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Hỗ trợ 24/7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Đội ngũ hỗ trợ kỹ thuật của chúng tôi luôn sẵn sàng hỗ trợ bạn 24/24h.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Email: support@LitePaas.vn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Hotline: 1900 1234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DE58E1-F97C-F396-943E-4D2F1796077F}"/>
              </a:ext>
            </a:extLst>
          </p:cNvPr>
          <p:cNvSpPr/>
          <p:nvPr/>
        </p:nvSpPr>
        <p:spPr>
          <a:xfrm>
            <a:off x="6941574" y="5773751"/>
            <a:ext cx="1577693" cy="74632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4D7F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Kết nối với chúng tôi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hlinkClick r:id="rId3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3BF036-5DE8-9667-8CCA-2279867E1E89}"/>
              </a:ext>
            </a:extLst>
          </p:cNvPr>
          <p:cNvSpPr txBox="1"/>
          <p:nvPr/>
        </p:nvSpPr>
        <p:spPr>
          <a:xfrm flipH="1">
            <a:off x="7675699" y="119367"/>
            <a:ext cx="27912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DV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8E50CD-7C1A-2C5A-472D-DFC13DC01F14}"/>
              </a:ext>
            </a:extLst>
          </p:cNvPr>
          <p:cNvSpPr txBox="1"/>
          <p:nvPr/>
        </p:nvSpPr>
        <p:spPr>
          <a:xfrm>
            <a:off x="7845729" y="118235"/>
            <a:ext cx="56792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Đinh vux…</a:t>
            </a:r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3432FA62-5841-295A-D25A-DAFB1B4436A3}"/>
              </a:ext>
            </a:extLst>
          </p:cNvPr>
          <p:cNvSpPr/>
          <p:nvPr/>
        </p:nvSpPr>
        <p:spPr>
          <a:xfrm>
            <a:off x="8345322" y="187708"/>
            <a:ext cx="5105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Flowchart: Terminator 33">
            <a:extLst>
              <a:ext uri="{FF2B5EF4-FFF2-40B4-BE49-F238E27FC236}">
                <a16:creationId xmlns:a16="http://schemas.microsoft.com/office/drawing/2014/main" id="{9963A0C0-8C57-D786-4968-751556A7F35C}"/>
              </a:ext>
            </a:extLst>
          </p:cNvPr>
          <p:cNvSpPr/>
          <p:nvPr/>
        </p:nvSpPr>
        <p:spPr>
          <a:xfrm>
            <a:off x="7068270" y="6154948"/>
            <a:ext cx="419346" cy="228506"/>
          </a:xfrm>
          <a:prstGeom prst="flowChartTerminator">
            <a:avLst/>
          </a:prstGeom>
          <a:solidFill>
            <a:srgbClr val="F2F2F2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Zalo</a:t>
            </a:r>
          </a:p>
        </p:txBody>
      </p:sp>
      <p:sp>
        <p:nvSpPr>
          <p:cNvPr id="35" name="Flowchart: Terminator 34">
            <a:extLst>
              <a:ext uri="{FF2B5EF4-FFF2-40B4-BE49-F238E27FC236}">
                <a16:creationId xmlns:a16="http://schemas.microsoft.com/office/drawing/2014/main" id="{EB467D2D-B3A3-2A89-8EB1-B63EF2FE86ED}"/>
              </a:ext>
            </a:extLst>
          </p:cNvPr>
          <p:cNvSpPr/>
          <p:nvPr/>
        </p:nvSpPr>
        <p:spPr>
          <a:xfrm>
            <a:off x="7544344" y="6146913"/>
            <a:ext cx="602770" cy="244576"/>
          </a:xfrm>
          <a:prstGeom prst="flowChartTerminator">
            <a:avLst/>
          </a:prstGeom>
          <a:solidFill>
            <a:srgbClr val="F2F2F2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Facebook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983C17-1E3A-37EA-4DAB-96361BE5E00B}"/>
              </a:ext>
            </a:extLst>
          </p:cNvPr>
          <p:cNvSpPr txBox="1"/>
          <p:nvPr/>
        </p:nvSpPr>
        <p:spPr>
          <a:xfrm>
            <a:off x="5388078" y="6642429"/>
            <a:ext cx="14158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© 2025 </a:t>
            </a: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LitePaas</a:t>
            </a:r>
            <a:r>
              <a:rPr kumimoji="0" lang="vi-VN" sz="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 Tất cả các quyền được bảo lưu.</a:t>
            </a: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9" name="Picture 38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A8E928FE-5521-D958-17BF-1E05B6E01F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280" y="85970"/>
            <a:ext cx="305581" cy="23330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D8D28186-C8F6-E0B3-BB68-B8411B7BC772}"/>
              </a:ext>
            </a:extLst>
          </p:cNvPr>
          <p:cNvSpPr txBox="1"/>
          <p:nvPr/>
        </p:nvSpPr>
        <p:spPr>
          <a:xfrm>
            <a:off x="4074167" y="104532"/>
            <a:ext cx="6390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LitePaas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5040A99-05B9-AC07-E4B8-17C505088636}"/>
              </a:ext>
            </a:extLst>
          </p:cNvPr>
          <p:cNvSpPr/>
          <p:nvPr/>
        </p:nvSpPr>
        <p:spPr>
          <a:xfrm>
            <a:off x="6236881" y="851883"/>
            <a:ext cx="2316144" cy="157065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EA1DDA2-1DED-7191-D631-986285A1FECB}"/>
              </a:ext>
            </a:extLst>
          </p:cNvPr>
          <p:cNvSpPr/>
          <p:nvPr/>
        </p:nvSpPr>
        <p:spPr>
          <a:xfrm>
            <a:off x="3679144" y="843391"/>
            <a:ext cx="2433869" cy="155391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F027106-AE28-95DD-8822-59C5629C615D}"/>
              </a:ext>
            </a:extLst>
          </p:cNvPr>
          <p:cNvSpPr/>
          <p:nvPr/>
        </p:nvSpPr>
        <p:spPr>
          <a:xfrm>
            <a:off x="3683405" y="2611489"/>
            <a:ext cx="4869620" cy="14765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38AEE93-1DE7-DFDA-E28A-EA09E0C5C498}"/>
              </a:ext>
            </a:extLst>
          </p:cNvPr>
          <p:cNvSpPr/>
          <p:nvPr/>
        </p:nvSpPr>
        <p:spPr>
          <a:xfrm>
            <a:off x="3649647" y="4200344"/>
            <a:ext cx="4869620" cy="49244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37D2CF-7A9A-F834-872E-E30AACB0ECAF}"/>
              </a:ext>
            </a:extLst>
          </p:cNvPr>
          <p:cNvSpPr txBox="1"/>
          <p:nvPr/>
        </p:nvSpPr>
        <p:spPr>
          <a:xfrm>
            <a:off x="3683405" y="488343"/>
            <a:ext cx="119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/>
              <a:t>Golang</a:t>
            </a:r>
            <a:endParaRPr lang="vi-VN" sz="800" b="1"/>
          </a:p>
          <a:p>
            <a:r>
              <a:rPr lang="vi-VN" sz="400"/>
              <a:t>Môi trường phát triển ứng dụng Golang</a:t>
            </a:r>
          </a:p>
          <a:p>
            <a:endParaRPr lang="en-US" sz="6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77E2C3-FEC3-4F2E-5E5F-87CB9BBEF45E}"/>
              </a:ext>
            </a:extLst>
          </p:cNvPr>
          <p:cNvSpPr txBox="1"/>
          <p:nvPr/>
        </p:nvSpPr>
        <p:spPr>
          <a:xfrm>
            <a:off x="3708536" y="935846"/>
            <a:ext cx="85265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1"/>
              <a:t>Thông số kỹ thuật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C35C3B8-8557-1455-B72C-24A8489A6824}"/>
              </a:ext>
            </a:extLst>
          </p:cNvPr>
          <p:cNvSpPr txBox="1"/>
          <p:nvPr/>
        </p:nvSpPr>
        <p:spPr>
          <a:xfrm>
            <a:off x="3696112" y="1145509"/>
            <a:ext cx="72863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600"/>
              <a:t>Cơ sở dữ liệu:</a:t>
            </a:r>
            <a:endParaRPr lang="en-US" sz="6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C97C27E-81BF-C484-E56B-4F8EE3FFF9DE}"/>
              </a:ext>
            </a:extLst>
          </p:cNvPr>
          <p:cNvSpPr txBox="1"/>
          <p:nvPr/>
        </p:nvSpPr>
        <p:spPr>
          <a:xfrm>
            <a:off x="3740253" y="1378900"/>
            <a:ext cx="72863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/>
              <a:t>RAM: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4A6BA0-AD54-EFB6-D86D-54CBA15246D6}"/>
              </a:ext>
            </a:extLst>
          </p:cNvPr>
          <p:cNvSpPr txBox="1"/>
          <p:nvPr/>
        </p:nvSpPr>
        <p:spPr>
          <a:xfrm>
            <a:off x="3740253" y="1740778"/>
            <a:ext cx="72863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/>
              <a:t>Storage: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DDD48737-844C-636C-DD24-84A169F2098A}"/>
              </a:ext>
            </a:extLst>
          </p:cNvPr>
          <p:cNvSpPr/>
          <p:nvPr/>
        </p:nvSpPr>
        <p:spPr>
          <a:xfrm>
            <a:off x="3829280" y="1629314"/>
            <a:ext cx="2154960" cy="45719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owchart: Alternate Process 45">
            <a:extLst>
              <a:ext uri="{FF2B5EF4-FFF2-40B4-BE49-F238E27FC236}">
                <a16:creationId xmlns:a16="http://schemas.microsoft.com/office/drawing/2014/main" id="{5121542B-F78E-1C10-9C49-1A61514DF03A}"/>
              </a:ext>
            </a:extLst>
          </p:cNvPr>
          <p:cNvSpPr/>
          <p:nvPr/>
        </p:nvSpPr>
        <p:spPr>
          <a:xfrm>
            <a:off x="3829280" y="1971142"/>
            <a:ext cx="2154960" cy="45719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lowchart: Alternate Process 46">
            <a:extLst>
              <a:ext uri="{FF2B5EF4-FFF2-40B4-BE49-F238E27FC236}">
                <a16:creationId xmlns:a16="http://schemas.microsoft.com/office/drawing/2014/main" id="{42D9E07E-4FF1-9781-B799-55964285BB54}"/>
              </a:ext>
            </a:extLst>
          </p:cNvPr>
          <p:cNvSpPr/>
          <p:nvPr/>
        </p:nvSpPr>
        <p:spPr>
          <a:xfrm>
            <a:off x="3842577" y="1627521"/>
            <a:ext cx="1741374" cy="45719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Alternate Process 47">
            <a:extLst>
              <a:ext uri="{FF2B5EF4-FFF2-40B4-BE49-F238E27FC236}">
                <a16:creationId xmlns:a16="http://schemas.microsoft.com/office/drawing/2014/main" id="{CACB41C8-C607-A321-118A-8499C500051D}"/>
              </a:ext>
            </a:extLst>
          </p:cNvPr>
          <p:cNvSpPr/>
          <p:nvPr/>
        </p:nvSpPr>
        <p:spPr>
          <a:xfrm>
            <a:off x="3829279" y="1970049"/>
            <a:ext cx="1558799" cy="45719"/>
          </a:xfrm>
          <a:prstGeom prst="flowChartAlternateProcess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639C572-A2DC-1CB7-2DCA-0F54A594185B}"/>
              </a:ext>
            </a:extLst>
          </p:cNvPr>
          <p:cNvSpPr txBox="1"/>
          <p:nvPr/>
        </p:nvSpPr>
        <p:spPr>
          <a:xfrm>
            <a:off x="5772061" y="1470275"/>
            <a:ext cx="309880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" b="1"/>
              <a:t>1 GB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C5E6E1D-6BD0-FBFD-80C1-DFB35DA2DE36}"/>
              </a:ext>
            </a:extLst>
          </p:cNvPr>
          <p:cNvSpPr txBox="1"/>
          <p:nvPr/>
        </p:nvSpPr>
        <p:spPr>
          <a:xfrm>
            <a:off x="5772061" y="1825728"/>
            <a:ext cx="309880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" b="1"/>
              <a:t>1 GB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0A3A2A8-CA70-42B7-FDB6-EF970A5E675D}"/>
              </a:ext>
            </a:extLst>
          </p:cNvPr>
          <p:cNvSpPr txBox="1"/>
          <p:nvPr/>
        </p:nvSpPr>
        <p:spPr>
          <a:xfrm>
            <a:off x="5482300" y="1668631"/>
            <a:ext cx="608399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"/>
              <a:t>0.6 GB đã sử dụng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D942906-1FD1-33AD-B7AB-F054F4B8CEC1}"/>
              </a:ext>
            </a:extLst>
          </p:cNvPr>
          <p:cNvSpPr txBox="1"/>
          <p:nvPr/>
        </p:nvSpPr>
        <p:spPr>
          <a:xfrm>
            <a:off x="5467861" y="2005290"/>
            <a:ext cx="608399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"/>
              <a:t>0.6 GB đã sử dụng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60643A-F2BA-7FFD-D50E-62138CCDDC5A}"/>
              </a:ext>
            </a:extLst>
          </p:cNvPr>
          <p:cNvSpPr txBox="1"/>
          <p:nvPr/>
        </p:nvSpPr>
        <p:spPr>
          <a:xfrm>
            <a:off x="5467861" y="1145509"/>
            <a:ext cx="30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BFE451-9E24-6754-E7A2-610F449EA064}"/>
              </a:ext>
            </a:extLst>
          </p:cNvPr>
          <p:cNvSpPr txBox="1"/>
          <p:nvPr/>
        </p:nvSpPr>
        <p:spPr>
          <a:xfrm>
            <a:off x="5509816" y="1152023"/>
            <a:ext cx="60839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/>
              <a:t>SQL Server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67F5A4-A76C-A05A-5E30-7D6900D9337A}"/>
              </a:ext>
            </a:extLst>
          </p:cNvPr>
          <p:cNvSpPr txBox="1"/>
          <p:nvPr/>
        </p:nvSpPr>
        <p:spPr>
          <a:xfrm>
            <a:off x="6337468" y="971896"/>
            <a:ext cx="179222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600" b="1">
                <a:latin typeface="Aptos" panose="020B0004020202020204" pitchFamily="34" charset="0"/>
              </a:rPr>
              <a:t>Đường dẫn GitHub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11C64D-A5BC-6487-CCD2-C1EEA3FF6E77}"/>
              </a:ext>
            </a:extLst>
          </p:cNvPr>
          <p:cNvSpPr txBox="1"/>
          <p:nvPr/>
        </p:nvSpPr>
        <p:spPr>
          <a:xfrm>
            <a:off x="6337467" y="1215284"/>
            <a:ext cx="7575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Repository URL: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4DC8FB4-F514-6958-5994-1E60D3AFFD4C}"/>
              </a:ext>
            </a:extLst>
          </p:cNvPr>
          <p:cNvSpPr/>
          <p:nvPr/>
        </p:nvSpPr>
        <p:spPr>
          <a:xfrm>
            <a:off x="6390713" y="1409600"/>
            <a:ext cx="1624523" cy="12697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">
                <a:solidFill>
                  <a:schemeClr val="tx1"/>
                </a:solidFill>
              </a:rPr>
              <a:t>https://github.com/username/repository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BDE57E6-EDB4-95CA-0041-72C39C71D335}"/>
              </a:ext>
            </a:extLst>
          </p:cNvPr>
          <p:cNvSpPr/>
          <p:nvPr/>
        </p:nvSpPr>
        <p:spPr>
          <a:xfrm>
            <a:off x="8063948" y="1410857"/>
            <a:ext cx="427988" cy="12571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Copy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ACBE65-A23F-9E67-2571-FB39439E27EB}"/>
              </a:ext>
            </a:extLst>
          </p:cNvPr>
          <p:cNvSpPr txBox="1"/>
          <p:nvPr/>
        </p:nvSpPr>
        <p:spPr>
          <a:xfrm>
            <a:off x="6337468" y="1648445"/>
            <a:ext cx="73080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>
                <a:latin typeface="Arial" panose="020B0604020202020204" pitchFamily="34" charset="0"/>
                <a:cs typeface="Arial" panose="020B0604020202020204" pitchFamily="34" charset="0"/>
              </a:rPr>
              <a:t>Access Token: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585C5B7-0702-83CB-27D6-0C2A3222C6C6}"/>
              </a:ext>
            </a:extLst>
          </p:cNvPr>
          <p:cNvSpPr/>
          <p:nvPr/>
        </p:nvSpPr>
        <p:spPr>
          <a:xfrm>
            <a:off x="6385760" y="1841326"/>
            <a:ext cx="2061646" cy="11079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">
                <a:solidFill>
                  <a:schemeClr val="tx1"/>
                </a:solidFill>
              </a:rPr>
              <a:t>Nhập token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7C3A6D-0CF8-F1ED-9B9E-6157D9D9B93D}"/>
              </a:ext>
            </a:extLst>
          </p:cNvPr>
          <p:cNvSpPr txBox="1"/>
          <p:nvPr/>
        </p:nvSpPr>
        <p:spPr>
          <a:xfrm>
            <a:off x="3744103" y="2704298"/>
            <a:ext cx="1333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/>
              <a:t>Log triển khai</a:t>
            </a:r>
          </a:p>
          <a:p>
            <a:endParaRPr lang="en-US" sz="6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7CCFDB-FC9F-DBAF-73C6-C4A2CFCCAE23}"/>
              </a:ext>
            </a:extLst>
          </p:cNvPr>
          <p:cNvSpPr txBox="1"/>
          <p:nvPr/>
        </p:nvSpPr>
        <p:spPr>
          <a:xfrm>
            <a:off x="3690477" y="4211585"/>
            <a:ext cx="192948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/>
              <a:t>Ứng dụng của bạn</a:t>
            </a:r>
          </a:p>
          <a:p>
            <a:r>
              <a:rPr lang="en-US" sz="600"/>
              <a:t>Tạo thành công!</a:t>
            </a:r>
          </a:p>
          <a:p>
            <a:r>
              <a:rPr lang="en-US" sz="600">
                <a:hlinkClick r:id="rId5"/>
              </a:rPr>
              <a:t>http://userid-sql-server-1.example.com</a:t>
            </a:r>
            <a:endParaRPr lang="en-US" sz="600"/>
          </a:p>
          <a:p>
            <a:endParaRPr lang="en-US" sz="60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DF7B8FA7-847A-8A88-0DEE-25972CD544A8}"/>
              </a:ext>
            </a:extLst>
          </p:cNvPr>
          <p:cNvSpPr/>
          <p:nvPr/>
        </p:nvSpPr>
        <p:spPr>
          <a:xfrm>
            <a:off x="3679144" y="4801707"/>
            <a:ext cx="545235" cy="20905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 b="1">
                <a:solidFill>
                  <a:schemeClr val="bg1"/>
                </a:solidFill>
              </a:rPr>
              <a:t>Khởi động lại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11CA68D-C883-A926-7A2A-C41F0D3FB777}"/>
              </a:ext>
            </a:extLst>
          </p:cNvPr>
          <p:cNvSpPr/>
          <p:nvPr/>
        </p:nvSpPr>
        <p:spPr>
          <a:xfrm>
            <a:off x="6385760" y="2042672"/>
            <a:ext cx="72390" cy="65576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1249F0E-99E9-7BC7-0A04-D514BD4AF4C3}"/>
              </a:ext>
            </a:extLst>
          </p:cNvPr>
          <p:cNvSpPr txBox="1"/>
          <p:nvPr/>
        </p:nvSpPr>
        <p:spPr>
          <a:xfrm>
            <a:off x="6394021" y="2005290"/>
            <a:ext cx="53340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/>
              <a:t>WebHook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A725D041-FE4E-9AAA-096C-EB4D9505BE14}"/>
              </a:ext>
            </a:extLst>
          </p:cNvPr>
          <p:cNvSpPr/>
          <p:nvPr/>
        </p:nvSpPr>
        <p:spPr>
          <a:xfrm>
            <a:off x="6458150" y="2175860"/>
            <a:ext cx="1887172" cy="121339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accent3">
                    <a:lumMod val="60000"/>
                    <a:lumOff val="40000"/>
                  </a:schemeClr>
                </a:solidFill>
              </a:rPr>
              <a:t>Kết nối GitHUb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CF7AD56-9C4B-67A9-C5E3-C9E9545BBFDC}"/>
              </a:ext>
            </a:extLst>
          </p:cNvPr>
          <p:cNvSpPr/>
          <p:nvPr/>
        </p:nvSpPr>
        <p:spPr>
          <a:xfrm>
            <a:off x="3982070" y="2981297"/>
            <a:ext cx="4247530" cy="9696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"/>
              <a:t>2025/11/13 03:26:33  WebSocket server started at :8081/ws</a:t>
            </a:r>
          </a:p>
          <a:p>
            <a:r>
              <a:rPr lang="en-US" sz="600"/>
              <a:t>2025/11/13 03:26:34 Connected to Kubernetes cluster</a:t>
            </a:r>
          </a:p>
          <a:p>
            <a:endParaRPr lang="en-US" sz="600"/>
          </a:p>
          <a:p>
            <a:endParaRPr lang="en-US" sz="600"/>
          </a:p>
          <a:p>
            <a:endParaRPr lang="en-US" sz="600"/>
          </a:p>
          <a:p>
            <a:endParaRPr lang="en-US" sz="600"/>
          </a:p>
          <a:p>
            <a:endParaRPr lang="en-US" sz="600"/>
          </a:p>
          <a:p>
            <a:endParaRPr lang="en-US" sz="600"/>
          </a:p>
          <a:p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4068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5619E4-343B-D23B-0007-DF21D1492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8A491E-E2FA-7CD3-A3F1-5ABFBB30A1DB}"/>
              </a:ext>
            </a:extLst>
          </p:cNvPr>
          <p:cNvSpPr/>
          <p:nvPr/>
        </p:nvSpPr>
        <p:spPr>
          <a:xfrm>
            <a:off x="0" y="0"/>
            <a:ext cx="12192000" cy="412955"/>
          </a:xfrm>
          <a:prstGeom prst="rect">
            <a:avLst/>
          </a:prstGeom>
          <a:solidFill>
            <a:srgbClr val="1E2939"/>
          </a:solidFill>
          <a:ln>
            <a:solidFill>
              <a:srgbClr val="1E29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3F5787-212B-6849-EECC-8ABE8F12F678}"/>
              </a:ext>
            </a:extLst>
          </p:cNvPr>
          <p:cNvSpPr/>
          <p:nvPr/>
        </p:nvSpPr>
        <p:spPr>
          <a:xfrm>
            <a:off x="0" y="5712542"/>
            <a:ext cx="12192000" cy="1145458"/>
          </a:xfrm>
          <a:prstGeom prst="rect">
            <a:avLst/>
          </a:prstGeom>
          <a:solidFill>
            <a:srgbClr val="1018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40ADD95-0170-350D-32CD-4BA9343E2725}"/>
              </a:ext>
            </a:extLst>
          </p:cNvPr>
          <p:cNvCxnSpPr>
            <a:cxnSpLocks/>
          </p:cNvCxnSpPr>
          <p:nvPr/>
        </p:nvCxnSpPr>
        <p:spPr>
          <a:xfrm>
            <a:off x="3667432" y="6587613"/>
            <a:ext cx="4857136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3FD9DEC-BA38-5418-C7A4-C6992E852633}"/>
              </a:ext>
            </a:extLst>
          </p:cNvPr>
          <p:cNvSpPr/>
          <p:nvPr/>
        </p:nvSpPr>
        <p:spPr>
          <a:xfrm>
            <a:off x="3662131" y="487867"/>
            <a:ext cx="4857136" cy="519364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27E2CCB9-94F5-0390-012B-C8DBEA5E5726}"/>
              </a:ext>
            </a:extLst>
          </p:cNvPr>
          <p:cNvSpPr/>
          <p:nvPr/>
        </p:nvSpPr>
        <p:spPr>
          <a:xfrm>
            <a:off x="7675699" y="85970"/>
            <a:ext cx="797741" cy="265736"/>
          </a:xfrm>
          <a:prstGeom prst="flowChartTerminator">
            <a:avLst/>
          </a:prstGeom>
          <a:solidFill>
            <a:srgbClr val="F2F2F2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FCE2890C-A450-0F4F-FEA2-F2081147EC24}"/>
              </a:ext>
            </a:extLst>
          </p:cNvPr>
          <p:cNvSpPr>
            <a:spLocks/>
          </p:cNvSpPr>
          <p:nvPr/>
        </p:nvSpPr>
        <p:spPr>
          <a:xfrm>
            <a:off x="7709542" y="117217"/>
            <a:ext cx="207020" cy="200246"/>
          </a:xfrm>
          <a:prstGeom prst="flowChartConnector">
            <a:avLst/>
          </a:prstGeom>
          <a:solidFill>
            <a:srgbClr val="04D7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C775F8-9B00-4D4B-D962-BC4F026C09C3}"/>
              </a:ext>
            </a:extLst>
          </p:cNvPr>
          <p:cNvSpPr/>
          <p:nvPr/>
        </p:nvSpPr>
        <p:spPr>
          <a:xfrm>
            <a:off x="3667432" y="5773751"/>
            <a:ext cx="1577693" cy="746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4D7F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LitePaas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4D7F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Cung cấp dịch vụ đám mây và giải pháp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Đảm bảo hiệu suất ổn định, bảo mật tối đa, hỗ trợ kỹ thuật tận tâm.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4D7F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113EE1-DF3F-2272-84EF-EC63F560BF07}"/>
              </a:ext>
            </a:extLst>
          </p:cNvPr>
          <p:cNvSpPr/>
          <p:nvPr/>
        </p:nvSpPr>
        <p:spPr>
          <a:xfrm>
            <a:off x="5307153" y="5773751"/>
            <a:ext cx="1577693" cy="74632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4D7F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Hỗ trợ 24/7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Đội ngũ hỗ trợ kỹ thuật của chúng tôi luôn sẵn sàng hỗ trợ bạn 24/24h.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Email: support@LitePaas.vn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Hotline: 1900 1234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72D46E9-916C-D998-AE39-E51F84485D85}"/>
              </a:ext>
            </a:extLst>
          </p:cNvPr>
          <p:cNvSpPr/>
          <p:nvPr/>
        </p:nvSpPr>
        <p:spPr>
          <a:xfrm>
            <a:off x="6941574" y="5773751"/>
            <a:ext cx="1577693" cy="74632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4D7F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Kết nối với chúng tôi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hlinkClick r:id="rId3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E4963F-ADFC-F284-8C16-5E626E76C4D0}"/>
              </a:ext>
            </a:extLst>
          </p:cNvPr>
          <p:cNvSpPr txBox="1"/>
          <p:nvPr/>
        </p:nvSpPr>
        <p:spPr>
          <a:xfrm flipH="1">
            <a:off x="7675699" y="119367"/>
            <a:ext cx="27912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DV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20C3DA-6F5F-D5BB-D380-304223A2285C}"/>
              </a:ext>
            </a:extLst>
          </p:cNvPr>
          <p:cNvSpPr txBox="1"/>
          <p:nvPr/>
        </p:nvSpPr>
        <p:spPr>
          <a:xfrm>
            <a:off x="7845729" y="118235"/>
            <a:ext cx="56792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Đinh vux…</a:t>
            </a:r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24E27B8A-3EB3-D052-7074-4FE1D76866C6}"/>
              </a:ext>
            </a:extLst>
          </p:cNvPr>
          <p:cNvSpPr/>
          <p:nvPr/>
        </p:nvSpPr>
        <p:spPr>
          <a:xfrm>
            <a:off x="8345322" y="187708"/>
            <a:ext cx="5105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Flowchart: Terminator 33">
            <a:extLst>
              <a:ext uri="{FF2B5EF4-FFF2-40B4-BE49-F238E27FC236}">
                <a16:creationId xmlns:a16="http://schemas.microsoft.com/office/drawing/2014/main" id="{33EFAE2B-A467-6B30-2381-328F2732792F}"/>
              </a:ext>
            </a:extLst>
          </p:cNvPr>
          <p:cNvSpPr/>
          <p:nvPr/>
        </p:nvSpPr>
        <p:spPr>
          <a:xfrm>
            <a:off x="7068270" y="6154948"/>
            <a:ext cx="419346" cy="228506"/>
          </a:xfrm>
          <a:prstGeom prst="flowChartTerminator">
            <a:avLst/>
          </a:prstGeom>
          <a:solidFill>
            <a:srgbClr val="F2F2F2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Zalo</a:t>
            </a:r>
          </a:p>
        </p:txBody>
      </p:sp>
      <p:sp>
        <p:nvSpPr>
          <p:cNvPr id="35" name="Flowchart: Terminator 34">
            <a:extLst>
              <a:ext uri="{FF2B5EF4-FFF2-40B4-BE49-F238E27FC236}">
                <a16:creationId xmlns:a16="http://schemas.microsoft.com/office/drawing/2014/main" id="{134A9B38-0882-F264-ED2F-4DD54CAA773E}"/>
              </a:ext>
            </a:extLst>
          </p:cNvPr>
          <p:cNvSpPr/>
          <p:nvPr/>
        </p:nvSpPr>
        <p:spPr>
          <a:xfrm>
            <a:off x="7544344" y="6146913"/>
            <a:ext cx="602770" cy="244576"/>
          </a:xfrm>
          <a:prstGeom prst="flowChartTerminator">
            <a:avLst/>
          </a:prstGeom>
          <a:solidFill>
            <a:srgbClr val="F2F2F2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Facebook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006344-EB7F-5EB1-B6E9-414CD02636E3}"/>
              </a:ext>
            </a:extLst>
          </p:cNvPr>
          <p:cNvSpPr txBox="1"/>
          <p:nvPr/>
        </p:nvSpPr>
        <p:spPr>
          <a:xfrm>
            <a:off x="5388078" y="6642429"/>
            <a:ext cx="14158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© 2025 </a:t>
            </a: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LitePaas</a:t>
            </a:r>
            <a:r>
              <a:rPr kumimoji="0" lang="vi-VN" sz="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 Tất cả các quyền được bảo lưu.</a:t>
            </a: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9" name="Picture 38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E3A62F67-5D2C-78C5-DC0F-A5545814EC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280" y="85970"/>
            <a:ext cx="305581" cy="23330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9DAB156-4A0F-1ECE-DE45-892E8066B2F7}"/>
              </a:ext>
            </a:extLst>
          </p:cNvPr>
          <p:cNvSpPr txBox="1"/>
          <p:nvPr/>
        </p:nvSpPr>
        <p:spPr>
          <a:xfrm>
            <a:off x="4074167" y="104532"/>
            <a:ext cx="6390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LitePaas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789AFD5-CAE9-D5DA-A840-AD24915BA2EA}"/>
              </a:ext>
            </a:extLst>
          </p:cNvPr>
          <p:cNvSpPr/>
          <p:nvPr/>
        </p:nvSpPr>
        <p:spPr>
          <a:xfrm>
            <a:off x="6236881" y="851884"/>
            <a:ext cx="2316144" cy="141969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8005AE5-4663-EBC0-9644-8104F5CD1D9F}"/>
              </a:ext>
            </a:extLst>
          </p:cNvPr>
          <p:cNvSpPr/>
          <p:nvPr/>
        </p:nvSpPr>
        <p:spPr>
          <a:xfrm>
            <a:off x="3662130" y="843391"/>
            <a:ext cx="2433869" cy="142999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A3E8585-15EE-4EC8-3658-9B6CA2F8C88E}"/>
              </a:ext>
            </a:extLst>
          </p:cNvPr>
          <p:cNvSpPr/>
          <p:nvPr/>
        </p:nvSpPr>
        <p:spPr>
          <a:xfrm>
            <a:off x="3683405" y="2611490"/>
            <a:ext cx="4869620" cy="58696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39B66C7-6E9C-D7A0-6708-2F78940ABEE9}"/>
              </a:ext>
            </a:extLst>
          </p:cNvPr>
          <p:cNvSpPr/>
          <p:nvPr/>
        </p:nvSpPr>
        <p:spPr>
          <a:xfrm>
            <a:off x="3655889" y="3387403"/>
            <a:ext cx="4869620" cy="49244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9A2775-7413-4C5E-5C31-426EB9ADD5D9}"/>
              </a:ext>
            </a:extLst>
          </p:cNvPr>
          <p:cNvSpPr txBox="1"/>
          <p:nvPr/>
        </p:nvSpPr>
        <p:spPr>
          <a:xfrm>
            <a:off x="3683405" y="488343"/>
            <a:ext cx="11999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800" b="1"/>
              <a:t>SQL Server</a:t>
            </a:r>
          </a:p>
          <a:p>
            <a:r>
              <a:rPr lang="vi-VN" sz="600"/>
              <a:t>Cơ sở dữ liệu: SQL Server</a:t>
            </a:r>
          </a:p>
          <a:p>
            <a:endParaRPr lang="en-US" sz="6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BD35D6-C255-A820-9A31-A8AD023A9B5F}"/>
              </a:ext>
            </a:extLst>
          </p:cNvPr>
          <p:cNvSpPr txBox="1"/>
          <p:nvPr/>
        </p:nvSpPr>
        <p:spPr>
          <a:xfrm>
            <a:off x="3708536" y="935846"/>
            <a:ext cx="85265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1"/>
              <a:t>Thông số kỹ thuật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131502-1227-2886-363C-72CE8FE8268B}"/>
              </a:ext>
            </a:extLst>
          </p:cNvPr>
          <p:cNvSpPr txBox="1"/>
          <p:nvPr/>
        </p:nvSpPr>
        <p:spPr>
          <a:xfrm>
            <a:off x="3696112" y="1145509"/>
            <a:ext cx="72863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600"/>
              <a:t>Cơ sở dữ liệu:</a:t>
            </a:r>
            <a:endParaRPr lang="en-US" sz="6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9483CE5-043F-7618-8E19-EAF215EBBC03}"/>
              </a:ext>
            </a:extLst>
          </p:cNvPr>
          <p:cNvSpPr txBox="1"/>
          <p:nvPr/>
        </p:nvSpPr>
        <p:spPr>
          <a:xfrm>
            <a:off x="3740253" y="1378900"/>
            <a:ext cx="72863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/>
              <a:t>RAM: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FAB5C5-33A3-F7A8-614F-F7665758A97C}"/>
              </a:ext>
            </a:extLst>
          </p:cNvPr>
          <p:cNvSpPr txBox="1"/>
          <p:nvPr/>
        </p:nvSpPr>
        <p:spPr>
          <a:xfrm>
            <a:off x="3740253" y="1740778"/>
            <a:ext cx="728634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/>
              <a:t>Storage:</a:t>
            </a:r>
          </a:p>
        </p:txBody>
      </p:sp>
      <p:sp>
        <p:nvSpPr>
          <p:cNvPr id="45" name="Flowchart: Alternate Process 44">
            <a:extLst>
              <a:ext uri="{FF2B5EF4-FFF2-40B4-BE49-F238E27FC236}">
                <a16:creationId xmlns:a16="http://schemas.microsoft.com/office/drawing/2014/main" id="{894B369D-38C2-2260-5DB9-F87EDF9A0FFB}"/>
              </a:ext>
            </a:extLst>
          </p:cNvPr>
          <p:cNvSpPr/>
          <p:nvPr/>
        </p:nvSpPr>
        <p:spPr>
          <a:xfrm>
            <a:off x="3829280" y="1629314"/>
            <a:ext cx="2154960" cy="45719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lowchart: Alternate Process 45">
            <a:extLst>
              <a:ext uri="{FF2B5EF4-FFF2-40B4-BE49-F238E27FC236}">
                <a16:creationId xmlns:a16="http://schemas.microsoft.com/office/drawing/2014/main" id="{C10B8730-B90B-0538-2EB9-1E8B07CE1F67}"/>
              </a:ext>
            </a:extLst>
          </p:cNvPr>
          <p:cNvSpPr/>
          <p:nvPr/>
        </p:nvSpPr>
        <p:spPr>
          <a:xfrm>
            <a:off x="3829280" y="1971142"/>
            <a:ext cx="2154960" cy="45719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lowchart: Alternate Process 46">
            <a:extLst>
              <a:ext uri="{FF2B5EF4-FFF2-40B4-BE49-F238E27FC236}">
                <a16:creationId xmlns:a16="http://schemas.microsoft.com/office/drawing/2014/main" id="{C502D32E-30C0-40CD-618F-8E7F8D6C589D}"/>
              </a:ext>
            </a:extLst>
          </p:cNvPr>
          <p:cNvSpPr/>
          <p:nvPr/>
        </p:nvSpPr>
        <p:spPr>
          <a:xfrm>
            <a:off x="3842577" y="1627521"/>
            <a:ext cx="1741374" cy="45719"/>
          </a:xfrm>
          <a:prstGeom prst="flowChartAlternateProcess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Alternate Process 47">
            <a:extLst>
              <a:ext uri="{FF2B5EF4-FFF2-40B4-BE49-F238E27FC236}">
                <a16:creationId xmlns:a16="http://schemas.microsoft.com/office/drawing/2014/main" id="{704610B2-15AC-A60E-988D-C4BC635C5FFE}"/>
              </a:ext>
            </a:extLst>
          </p:cNvPr>
          <p:cNvSpPr/>
          <p:nvPr/>
        </p:nvSpPr>
        <p:spPr>
          <a:xfrm>
            <a:off x="3829279" y="1970049"/>
            <a:ext cx="1558799" cy="45719"/>
          </a:xfrm>
          <a:prstGeom prst="flowChartAlternateProcess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7E7D392-B7F5-A9CF-5589-C03911A1725E}"/>
              </a:ext>
            </a:extLst>
          </p:cNvPr>
          <p:cNvSpPr txBox="1"/>
          <p:nvPr/>
        </p:nvSpPr>
        <p:spPr>
          <a:xfrm>
            <a:off x="5772061" y="1470275"/>
            <a:ext cx="309880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" b="1"/>
              <a:t>1 GB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4E1F7F4-DCE8-8370-8755-1E65A6FE8877}"/>
              </a:ext>
            </a:extLst>
          </p:cNvPr>
          <p:cNvSpPr txBox="1"/>
          <p:nvPr/>
        </p:nvSpPr>
        <p:spPr>
          <a:xfrm>
            <a:off x="5772061" y="1825728"/>
            <a:ext cx="309880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" b="1"/>
              <a:t>1 GB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D8FD03D-DA98-4D45-0876-04C6270DBCAE}"/>
              </a:ext>
            </a:extLst>
          </p:cNvPr>
          <p:cNvSpPr txBox="1"/>
          <p:nvPr/>
        </p:nvSpPr>
        <p:spPr>
          <a:xfrm>
            <a:off x="5482300" y="1668631"/>
            <a:ext cx="608399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"/>
              <a:t>0.6 GB đã sử dụng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D3F05CE-255A-BFAF-FCF8-1863C74B9556}"/>
              </a:ext>
            </a:extLst>
          </p:cNvPr>
          <p:cNvSpPr txBox="1"/>
          <p:nvPr/>
        </p:nvSpPr>
        <p:spPr>
          <a:xfrm>
            <a:off x="5467861" y="2005290"/>
            <a:ext cx="608399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"/>
              <a:t>0.6 GB đã sử dụng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B2569A0-5DC2-CC06-8336-CCA542DC07DC}"/>
              </a:ext>
            </a:extLst>
          </p:cNvPr>
          <p:cNvSpPr txBox="1"/>
          <p:nvPr/>
        </p:nvSpPr>
        <p:spPr>
          <a:xfrm>
            <a:off x="5467861" y="1145509"/>
            <a:ext cx="30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B85DAC-1DB3-35BB-A9D8-9454F40F8886}"/>
              </a:ext>
            </a:extLst>
          </p:cNvPr>
          <p:cNvSpPr txBox="1"/>
          <p:nvPr/>
        </p:nvSpPr>
        <p:spPr>
          <a:xfrm>
            <a:off x="5509816" y="1152023"/>
            <a:ext cx="60839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/>
              <a:t>SQL Server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E76CC1-7657-D3D0-9066-B4A89D295225}"/>
              </a:ext>
            </a:extLst>
          </p:cNvPr>
          <p:cNvSpPr txBox="1"/>
          <p:nvPr/>
        </p:nvSpPr>
        <p:spPr>
          <a:xfrm>
            <a:off x="6337468" y="971896"/>
            <a:ext cx="179222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/>
              <a:t>Thông tin kết nối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97AD46-E1C2-1BCC-DCE9-2E6D1CA39B1F}"/>
              </a:ext>
            </a:extLst>
          </p:cNvPr>
          <p:cNvSpPr txBox="1"/>
          <p:nvPr/>
        </p:nvSpPr>
        <p:spPr>
          <a:xfrm>
            <a:off x="6337468" y="1215284"/>
            <a:ext cx="4023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/>
              <a:t>Host: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1818EEB-37F5-466E-CFED-A29644DBD8F4}"/>
              </a:ext>
            </a:extLst>
          </p:cNvPr>
          <p:cNvSpPr/>
          <p:nvPr/>
        </p:nvSpPr>
        <p:spPr>
          <a:xfrm>
            <a:off x="6390713" y="1409600"/>
            <a:ext cx="1624523" cy="12697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">
                <a:solidFill>
                  <a:schemeClr val="tx1"/>
                </a:solidFill>
              </a:rPr>
              <a:t>userid-sql-server-1.example.com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18A026E-914E-2683-F199-AF9A0984DA61}"/>
              </a:ext>
            </a:extLst>
          </p:cNvPr>
          <p:cNvSpPr/>
          <p:nvPr/>
        </p:nvSpPr>
        <p:spPr>
          <a:xfrm>
            <a:off x="8063948" y="1410857"/>
            <a:ext cx="427988" cy="12571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Copy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AA16C8-311D-C605-E6D7-23487E6F8F0B}"/>
              </a:ext>
            </a:extLst>
          </p:cNvPr>
          <p:cNvSpPr txBox="1"/>
          <p:nvPr/>
        </p:nvSpPr>
        <p:spPr>
          <a:xfrm>
            <a:off x="6337468" y="1648445"/>
            <a:ext cx="40233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/>
              <a:t>Port: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647F78-5E6E-3581-93B0-1A74BB1C1C92}"/>
              </a:ext>
            </a:extLst>
          </p:cNvPr>
          <p:cNvSpPr/>
          <p:nvPr/>
        </p:nvSpPr>
        <p:spPr>
          <a:xfrm>
            <a:off x="6385760" y="1841326"/>
            <a:ext cx="2061646" cy="110796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">
                <a:solidFill>
                  <a:schemeClr val="tx1"/>
                </a:solidFill>
              </a:rPr>
              <a:t>1433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60E914-A55D-E03C-E84D-9A150D455F9D}"/>
              </a:ext>
            </a:extLst>
          </p:cNvPr>
          <p:cNvSpPr txBox="1"/>
          <p:nvPr/>
        </p:nvSpPr>
        <p:spPr>
          <a:xfrm>
            <a:off x="3683405" y="2667694"/>
            <a:ext cx="1333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/>
              <a:t>Thông tin đăng nhập</a:t>
            </a:r>
          </a:p>
          <a:p>
            <a:endParaRPr lang="en-US" sz="6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D47CB3-E387-9A0E-0FE9-A715090A9C99}"/>
              </a:ext>
            </a:extLst>
          </p:cNvPr>
          <p:cNvSpPr txBox="1"/>
          <p:nvPr/>
        </p:nvSpPr>
        <p:spPr>
          <a:xfrm>
            <a:off x="3696112" y="2787253"/>
            <a:ext cx="58937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/>
              <a:t>Username</a:t>
            </a:r>
            <a:r>
              <a:rPr lang="en-US" sz="400"/>
              <a:t>: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74D75A2-DA94-31DF-2ACB-848EDBB780F2}"/>
              </a:ext>
            </a:extLst>
          </p:cNvPr>
          <p:cNvSpPr/>
          <p:nvPr/>
        </p:nvSpPr>
        <p:spPr>
          <a:xfrm>
            <a:off x="3770707" y="2994474"/>
            <a:ext cx="1624523" cy="12697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">
                <a:solidFill>
                  <a:schemeClr val="tx1"/>
                </a:solidFill>
              </a:rPr>
              <a:t>userid-sql-server-1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68A37D3-CC22-61FB-2C66-84C51D518776}"/>
              </a:ext>
            </a:extLst>
          </p:cNvPr>
          <p:cNvSpPr/>
          <p:nvPr/>
        </p:nvSpPr>
        <p:spPr>
          <a:xfrm>
            <a:off x="5450852" y="2991303"/>
            <a:ext cx="427988" cy="12571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Copy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8C8308-E573-B8F7-D2B7-4343F4CA960A}"/>
              </a:ext>
            </a:extLst>
          </p:cNvPr>
          <p:cNvSpPr txBox="1"/>
          <p:nvPr/>
        </p:nvSpPr>
        <p:spPr>
          <a:xfrm>
            <a:off x="6178710" y="2767616"/>
            <a:ext cx="58937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/>
              <a:t>Username</a:t>
            </a:r>
            <a:r>
              <a:rPr lang="en-US" sz="400"/>
              <a:t>: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271CE16-C3FC-A6C8-5334-47CD3EFF2DEC}"/>
              </a:ext>
            </a:extLst>
          </p:cNvPr>
          <p:cNvSpPr/>
          <p:nvPr/>
        </p:nvSpPr>
        <p:spPr>
          <a:xfrm>
            <a:off x="6256008" y="2971919"/>
            <a:ext cx="1624523" cy="126971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">
                <a:solidFill>
                  <a:schemeClr val="tx1"/>
                </a:solidFill>
              </a:rPr>
              <a:t>qdwowigfegerrr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6ED0191-40FA-0972-8DCF-04F5C3E04200}"/>
              </a:ext>
            </a:extLst>
          </p:cNvPr>
          <p:cNvSpPr/>
          <p:nvPr/>
        </p:nvSpPr>
        <p:spPr>
          <a:xfrm>
            <a:off x="8094268" y="2979658"/>
            <a:ext cx="427988" cy="12571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>
                <a:solidFill>
                  <a:schemeClr val="tx1"/>
                </a:solidFill>
              </a:rPr>
              <a:t>Copy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DA450F9-152D-3434-CAC7-F8C417197426}"/>
              </a:ext>
            </a:extLst>
          </p:cNvPr>
          <p:cNvSpPr/>
          <p:nvPr/>
        </p:nvSpPr>
        <p:spPr>
          <a:xfrm>
            <a:off x="7908223" y="2979658"/>
            <a:ext cx="166346" cy="12571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">
              <a:solidFill>
                <a:schemeClr val="tx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33A47D-C4B1-2F6D-DE17-8A823B66783F}"/>
              </a:ext>
            </a:extLst>
          </p:cNvPr>
          <p:cNvSpPr txBox="1"/>
          <p:nvPr/>
        </p:nvSpPr>
        <p:spPr>
          <a:xfrm>
            <a:off x="3698383" y="3429446"/>
            <a:ext cx="192948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/>
              <a:t>Ứng dụng của bạn</a:t>
            </a:r>
          </a:p>
          <a:p>
            <a:r>
              <a:rPr lang="en-US" sz="600"/>
              <a:t>Tạo thành công!</a:t>
            </a:r>
          </a:p>
          <a:p>
            <a:r>
              <a:rPr lang="en-US" sz="600">
                <a:hlinkClick r:id="rId5"/>
              </a:rPr>
              <a:t>http://userid-sql-server-1.example.com</a:t>
            </a:r>
            <a:endParaRPr lang="en-US" sz="600"/>
          </a:p>
          <a:p>
            <a:endParaRPr lang="en-US" sz="60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4AB7F65E-542B-F7EF-D3A6-63F3072E9047}"/>
              </a:ext>
            </a:extLst>
          </p:cNvPr>
          <p:cNvSpPr/>
          <p:nvPr/>
        </p:nvSpPr>
        <p:spPr>
          <a:xfrm>
            <a:off x="3655889" y="4145627"/>
            <a:ext cx="4869620" cy="88552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E48A0A1-6B60-8D52-658A-F6645F7EF877}"/>
              </a:ext>
            </a:extLst>
          </p:cNvPr>
          <p:cNvSpPr txBox="1"/>
          <p:nvPr/>
        </p:nvSpPr>
        <p:spPr>
          <a:xfrm>
            <a:off x="3708536" y="4149627"/>
            <a:ext cx="25162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/>
              <a:t>Connection String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55311226-E3D9-D643-FC1F-FCE2824EAB5A}"/>
              </a:ext>
            </a:extLst>
          </p:cNvPr>
          <p:cNvSpPr/>
          <p:nvPr/>
        </p:nvSpPr>
        <p:spPr>
          <a:xfrm>
            <a:off x="3805184" y="4365070"/>
            <a:ext cx="4491472" cy="18749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00">
                <a:solidFill>
                  <a:schemeClr val="accent3">
                    <a:lumMod val="60000"/>
                    <a:lumOff val="40000"/>
                  </a:schemeClr>
                </a:solidFill>
              </a:rPr>
              <a:t>Server=userid-sql-server-1.example.com,1433;User Id=userid-sql-server-1;Password=qdwowigfegerrr;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7B11A19C-5BC3-B535-EF1E-FA76FBD93383}"/>
              </a:ext>
            </a:extLst>
          </p:cNvPr>
          <p:cNvSpPr/>
          <p:nvPr/>
        </p:nvSpPr>
        <p:spPr>
          <a:xfrm>
            <a:off x="3803322" y="4647688"/>
            <a:ext cx="541690" cy="17984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>
                <a:solidFill>
                  <a:schemeClr val="accent3">
                    <a:lumMod val="60000"/>
                    <a:lumOff val="40000"/>
                  </a:schemeClr>
                </a:solidFill>
              </a:rPr>
              <a:t>Coppy connect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7A8DA78-D848-4D7D-A8F2-1B75809DEBDD}"/>
              </a:ext>
            </a:extLst>
          </p:cNvPr>
          <p:cNvSpPr/>
          <p:nvPr/>
        </p:nvSpPr>
        <p:spPr>
          <a:xfrm>
            <a:off x="3696112" y="5172926"/>
            <a:ext cx="545235" cy="20905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 b="1">
                <a:solidFill>
                  <a:schemeClr val="bg1"/>
                </a:solidFill>
              </a:rPr>
              <a:t>Khởi động lại</a:t>
            </a:r>
          </a:p>
        </p:txBody>
      </p:sp>
    </p:spTree>
    <p:extLst>
      <p:ext uri="{BB962C8B-B14F-4D97-AF65-F5344CB8AC3E}">
        <p14:creationId xmlns:p14="http://schemas.microsoft.com/office/powerpoint/2010/main" val="1455256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0C4907-9D32-235D-AF35-B6CD03E47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7B2DE6-4640-B64E-645D-062C29984D7A}"/>
              </a:ext>
            </a:extLst>
          </p:cNvPr>
          <p:cNvSpPr/>
          <p:nvPr/>
        </p:nvSpPr>
        <p:spPr>
          <a:xfrm>
            <a:off x="0" y="0"/>
            <a:ext cx="12192000" cy="412955"/>
          </a:xfrm>
          <a:prstGeom prst="rect">
            <a:avLst/>
          </a:prstGeom>
          <a:solidFill>
            <a:srgbClr val="1E2939"/>
          </a:solidFill>
          <a:ln>
            <a:solidFill>
              <a:srgbClr val="1E29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AFA682-C0D7-6117-97BE-3443B8A52F5B}"/>
              </a:ext>
            </a:extLst>
          </p:cNvPr>
          <p:cNvSpPr/>
          <p:nvPr/>
        </p:nvSpPr>
        <p:spPr>
          <a:xfrm>
            <a:off x="0" y="5712542"/>
            <a:ext cx="12192000" cy="1145458"/>
          </a:xfrm>
          <a:prstGeom prst="rect">
            <a:avLst/>
          </a:prstGeom>
          <a:solidFill>
            <a:srgbClr val="1018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A58177-FD89-3078-033C-646ACED63A53}"/>
              </a:ext>
            </a:extLst>
          </p:cNvPr>
          <p:cNvCxnSpPr>
            <a:cxnSpLocks/>
          </p:cNvCxnSpPr>
          <p:nvPr/>
        </p:nvCxnSpPr>
        <p:spPr>
          <a:xfrm>
            <a:off x="3667432" y="6587613"/>
            <a:ext cx="4857136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BB717AD-12A4-328E-B0CD-5D075AC5498A}"/>
              </a:ext>
            </a:extLst>
          </p:cNvPr>
          <p:cNvSpPr/>
          <p:nvPr/>
        </p:nvSpPr>
        <p:spPr>
          <a:xfrm>
            <a:off x="3651667" y="464079"/>
            <a:ext cx="4857136" cy="519364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6F4A1A7B-EA87-D23E-5997-9D846458A32A}"/>
              </a:ext>
            </a:extLst>
          </p:cNvPr>
          <p:cNvSpPr/>
          <p:nvPr/>
        </p:nvSpPr>
        <p:spPr>
          <a:xfrm>
            <a:off x="7675699" y="85970"/>
            <a:ext cx="797741" cy="265736"/>
          </a:xfrm>
          <a:prstGeom prst="flowChartTerminator">
            <a:avLst/>
          </a:prstGeom>
          <a:solidFill>
            <a:srgbClr val="F2F2F2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2C53578D-1E6F-8F2B-06C5-1552B8595B02}"/>
              </a:ext>
            </a:extLst>
          </p:cNvPr>
          <p:cNvSpPr>
            <a:spLocks/>
          </p:cNvSpPr>
          <p:nvPr/>
        </p:nvSpPr>
        <p:spPr>
          <a:xfrm>
            <a:off x="7709542" y="117217"/>
            <a:ext cx="207020" cy="200246"/>
          </a:xfrm>
          <a:prstGeom prst="flowChartConnector">
            <a:avLst/>
          </a:prstGeom>
          <a:solidFill>
            <a:srgbClr val="04D7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23BE80-E454-69DC-A169-36D2A510CA46}"/>
              </a:ext>
            </a:extLst>
          </p:cNvPr>
          <p:cNvSpPr/>
          <p:nvPr/>
        </p:nvSpPr>
        <p:spPr>
          <a:xfrm>
            <a:off x="3667432" y="5773751"/>
            <a:ext cx="1577693" cy="746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4D7F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LitePaas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4D7F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Cung cấp dịch vụ đám mây và giải pháp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Đảm bảo hiệu suất ổn định, bảo mật tối đa, hỗ trợ kỹ thuật tận tâm.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4D7F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E81547E-3D85-DA49-9FA9-E8424FB70F62}"/>
              </a:ext>
            </a:extLst>
          </p:cNvPr>
          <p:cNvSpPr/>
          <p:nvPr/>
        </p:nvSpPr>
        <p:spPr>
          <a:xfrm>
            <a:off x="5307153" y="5773751"/>
            <a:ext cx="1577693" cy="74632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4D7F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Hỗ trợ 24/7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Đội ngũ hỗ trợ kỹ thuật của chúng tôi luôn sẵn sàng hỗ trợ bạn 24/24h.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Email: support@LitePaas.vn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Hotline: 1900 1234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C75CB5-10D3-B969-98C9-0BB0F50B2D6A}"/>
              </a:ext>
            </a:extLst>
          </p:cNvPr>
          <p:cNvSpPr/>
          <p:nvPr/>
        </p:nvSpPr>
        <p:spPr>
          <a:xfrm>
            <a:off x="6941574" y="5773751"/>
            <a:ext cx="1577693" cy="74632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4D7F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Kết nối với chúng tôi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hlinkClick r:id="rId3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07FCD6-CDF2-1A50-9B7F-4B922A94BE43}"/>
              </a:ext>
            </a:extLst>
          </p:cNvPr>
          <p:cNvSpPr txBox="1"/>
          <p:nvPr/>
        </p:nvSpPr>
        <p:spPr>
          <a:xfrm flipH="1">
            <a:off x="7675699" y="119367"/>
            <a:ext cx="27912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DV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92F050-7AD0-DD3E-4323-95CDB486B3FF}"/>
              </a:ext>
            </a:extLst>
          </p:cNvPr>
          <p:cNvSpPr txBox="1"/>
          <p:nvPr/>
        </p:nvSpPr>
        <p:spPr>
          <a:xfrm>
            <a:off x="7845729" y="118235"/>
            <a:ext cx="56792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Đinh vux…</a:t>
            </a:r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072FCD80-0831-5D5B-1792-61063728266B}"/>
              </a:ext>
            </a:extLst>
          </p:cNvPr>
          <p:cNvSpPr/>
          <p:nvPr/>
        </p:nvSpPr>
        <p:spPr>
          <a:xfrm>
            <a:off x="8345322" y="187708"/>
            <a:ext cx="5105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Flowchart: Terminator 33">
            <a:extLst>
              <a:ext uri="{FF2B5EF4-FFF2-40B4-BE49-F238E27FC236}">
                <a16:creationId xmlns:a16="http://schemas.microsoft.com/office/drawing/2014/main" id="{3A57B7AA-2C3A-0E44-BBFB-096F9F26D28E}"/>
              </a:ext>
            </a:extLst>
          </p:cNvPr>
          <p:cNvSpPr/>
          <p:nvPr/>
        </p:nvSpPr>
        <p:spPr>
          <a:xfrm>
            <a:off x="7068270" y="6154948"/>
            <a:ext cx="419346" cy="228506"/>
          </a:xfrm>
          <a:prstGeom prst="flowChartTerminator">
            <a:avLst/>
          </a:prstGeom>
          <a:solidFill>
            <a:srgbClr val="F2F2F2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Zalo</a:t>
            </a:r>
          </a:p>
        </p:txBody>
      </p:sp>
      <p:sp>
        <p:nvSpPr>
          <p:cNvPr id="35" name="Flowchart: Terminator 34">
            <a:extLst>
              <a:ext uri="{FF2B5EF4-FFF2-40B4-BE49-F238E27FC236}">
                <a16:creationId xmlns:a16="http://schemas.microsoft.com/office/drawing/2014/main" id="{64AE0159-897D-FCA8-9B07-B52D09F16D1B}"/>
              </a:ext>
            </a:extLst>
          </p:cNvPr>
          <p:cNvSpPr/>
          <p:nvPr/>
        </p:nvSpPr>
        <p:spPr>
          <a:xfrm>
            <a:off x="7544344" y="6146913"/>
            <a:ext cx="602770" cy="244576"/>
          </a:xfrm>
          <a:prstGeom prst="flowChartTerminator">
            <a:avLst/>
          </a:prstGeom>
          <a:solidFill>
            <a:srgbClr val="F2F2F2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Facebook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827A32-ED66-C5C6-7470-E93A6B672E78}"/>
              </a:ext>
            </a:extLst>
          </p:cNvPr>
          <p:cNvSpPr txBox="1"/>
          <p:nvPr/>
        </p:nvSpPr>
        <p:spPr>
          <a:xfrm>
            <a:off x="5388078" y="6642429"/>
            <a:ext cx="14158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© 2025 </a:t>
            </a: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LitePaas</a:t>
            </a:r>
            <a:r>
              <a:rPr kumimoji="0" lang="vi-VN" sz="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 Tất cả các quyền được bảo lưu.</a:t>
            </a: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9" name="Picture 38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93302459-FAA9-6B9D-D1C9-EEDAFDF7F5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280" y="85970"/>
            <a:ext cx="305581" cy="23330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80B43F6E-DE74-EC00-656E-9EE8FE3CF023}"/>
              </a:ext>
            </a:extLst>
          </p:cNvPr>
          <p:cNvSpPr txBox="1"/>
          <p:nvPr/>
        </p:nvSpPr>
        <p:spPr>
          <a:xfrm>
            <a:off x="4074167" y="104532"/>
            <a:ext cx="6390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LitePaas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991200C-57B9-A036-4612-C363BFCC7C41}"/>
              </a:ext>
            </a:extLst>
          </p:cNvPr>
          <p:cNvSpPr/>
          <p:nvPr/>
        </p:nvSpPr>
        <p:spPr>
          <a:xfrm>
            <a:off x="5076096" y="678502"/>
            <a:ext cx="3455654" cy="275049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FEFD22-DCD5-E551-2D57-499D838B8EB3}"/>
              </a:ext>
            </a:extLst>
          </p:cNvPr>
          <p:cNvSpPr/>
          <p:nvPr/>
        </p:nvSpPr>
        <p:spPr>
          <a:xfrm>
            <a:off x="3990834" y="555089"/>
            <a:ext cx="943897" cy="11535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6EEF51-41DE-4796-A7ED-38E5412A4653}"/>
              </a:ext>
            </a:extLst>
          </p:cNvPr>
          <p:cNvSpPr/>
          <p:nvPr/>
        </p:nvSpPr>
        <p:spPr>
          <a:xfrm>
            <a:off x="5262524" y="1176485"/>
            <a:ext cx="3082798" cy="20361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EC8D99F-57CF-06DA-7D0E-7706C6B2C97D}"/>
              </a:ext>
            </a:extLst>
          </p:cNvPr>
          <p:cNvSpPr/>
          <p:nvPr/>
        </p:nvSpPr>
        <p:spPr>
          <a:xfrm>
            <a:off x="5331439" y="1708686"/>
            <a:ext cx="2944968" cy="136979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07F34F3-1138-7709-2403-0C927A942DFC}"/>
              </a:ext>
            </a:extLst>
          </p:cNvPr>
          <p:cNvSpPr/>
          <p:nvPr/>
        </p:nvSpPr>
        <p:spPr>
          <a:xfrm>
            <a:off x="4074167" y="721360"/>
            <a:ext cx="777233" cy="1574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>
                <a:solidFill>
                  <a:schemeClr val="tx1"/>
                </a:solidFill>
              </a:rPr>
              <a:t>Tất cả dịch vụ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C115ED4-A55E-C8B9-F864-1CE29877DFE0}"/>
              </a:ext>
            </a:extLst>
          </p:cNvPr>
          <p:cNvSpPr/>
          <p:nvPr/>
        </p:nvSpPr>
        <p:spPr>
          <a:xfrm>
            <a:off x="4074167" y="914724"/>
            <a:ext cx="777233" cy="1574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>
                <a:solidFill>
                  <a:schemeClr val="tx1"/>
                </a:solidFill>
              </a:rPr>
              <a:t>Dịch vụ của tôi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97BE53E-2D9D-7CEA-9DBD-D1F490ED602A}"/>
              </a:ext>
            </a:extLst>
          </p:cNvPr>
          <p:cNvSpPr/>
          <p:nvPr/>
        </p:nvSpPr>
        <p:spPr>
          <a:xfrm>
            <a:off x="4074167" y="1095342"/>
            <a:ext cx="777233" cy="157480"/>
          </a:xfrm>
          <a:prstGeom prst="roundRect">
            <a:avLst/>
          </a:prstGeom>
          <a:solidFill>
            <a:srgbClr val="1E29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>
                <a:solidFill>
                  <a:schemeClr val="bg1"/>
                </a:solidFill>
              </a:rPr>
              <a:t>Yêu cầu hỗ trợ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8C53CAE-2058-45D6-FFC4-4847ADECD923}"/>
              </a:ext>
            </a:extLst>
          </p:cNvPr>
          <p:cNvSpPr/>
          <p:nvPr/>
        </p:nvSpPr>
        <p:spPr>
          <a:xfrm>
            <a:off x="4074167" y="1287328"/>
            <a:ext cx="777233" cy="1574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>
                <a:solidFill>
                  <a:schemeClr val="tx1"/>
                </a:solidFill>
              </a:rPr>
              <a:t>Hóa đơn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CF61088-24F9-D236-9413-C484C621096F}"/>
              </a:ext>
            </a:extLst>
          </p:cNvPr>
          <p:cNvSpPr/>
          <p:nvPr/>
        </p:nvSpPr>
        <p:spPr>
          <a:xfrm>
            <a:off x="4074167" y="1479314"/>
            <a:ext cx="777233" cy="1574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>
                <a:solidFill>
                  <a:schemeClr val="tx1"/>
                </a:solidFill>
              </a:rPr>
              <a:t>Lịch sử thanh toán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ED11F6-C8DD-4368-A288-65AAF7EDBDB0}"/>
              </a:ext>
            </a:extLst>
          </p:cNvPr>
          <p:cNvSpPr txBox="1"/>
          <p:nvPr/>
        </p:nvSpPr>
        <p:spPr>
          <a:xfrm>
            <a:off x="5365131" y="749038"/>
            <a:ext cx="17698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Yêu cầu hỗ trợ</a:t>
            </a:r>
          </a:p>
          <a:p>
            <a:endParaRPr lang="en-US" sz="12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F0EC100-3E54-2A09-17A7-8EAC5C6298F3}"/>
              </a:ext>
            </a:extLst>
          </p:cNvPr>
          <p:cNvSpPr txBox="1"/>
          <p:nvPr/>
        </p:nvSpPr>
        <p:spPr>
          <a:xfrm>
            <a:off x="5395186" y="1233211"/>
            <a:ext cx="2370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Yêu cầu hỗ trợ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4358A13-6F30-9D5E-C29B-AD63D607332B}"/>
              </a:ext>
            </a:extLst>
          </p:cNvPr>
          <p:cNvCxnSpPr>
            <a:cxnSpLocks/>
          </p:cNvCxnSpPr>
          <p:nvPr/>
        </p:nvCxnSpPr>
        <p:spPr>
          <a:xfrm>
            <a:off x="5494757" y="2396010"/>
            <a:ext cx="2652357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C2E58A3-A83D-545F-77FB-A9F89034234E}"/>
              </a:ext>
            </a:extLst>
          </p:cNvPr>
          <p:cNvSpPr txBox="1"/>
          <p:nvPr/>
        </p:nvSpPr>
        <p:spPr>
          <a:xfrm>
            <a:off x="5467030" y="1762640"/>
            <a:ext cx="104299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/>
              <a:t>Danh sách yêu cầu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56489084-18C9-B994-1E1B-CFB9ED47D09B}"/>
              </a:ext>
            </a:extLst>
          </p:cNvPr>
          <p:cNvSpPr/>
          <p:nvPr/>
        </p:nvSpPr>
        <p:spPr>
          <a:xfrm>
            <a:off x="7709542" y="412955"/>
            <a:ext cx="704114" cy="36401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6BCF0D9-D60F-6BA9-121A-483667EBDC4B}"/>
              </a:ext>
            </a:extLst>
          </p:cNvPr>
          <p:cNvCxnSpPr>
            <a:cxnSpLocks/>
            <a:stCxn id="57" idx="1"/>
            <a:endCxn id="57" idx="3"/>
          </p:cNvCxnSpPr>
          <p:nvPr/>
        </p:nvCxnSpPr>
        <p:spPr>
          <a:xfrm>
            <a:off x="7709542" y="594964"/>
            <a:ext cx="70411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1438000-C6C4-FCE6-AB45-EAC91FE5E467}"/>
              </a:ext>
            </a:extLst>
          </p:cNvPr>
          <p:cNvSpPr txBox="1"/>
          <p:nvPr/>
        </p:nvSpPr>
        <p:spPr>
          <a:xfrm>
            <a:off x="7757710" y="429822"/>
            <a:ext cx="6337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/>
              <a:t>Thông tin tài khoản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D5273E8-150E-6FC8-75CF-E1671ED629A1}"/>
              </a:ext>
            </a:extLst>
          </p:cNvPr>
          <p:cNvSpPr txBox="1"/>
          <p:nvPr/>
        </p:nvSpPr>
        <p:spPr>
          <a:xfrm>
            <a:off x="7757710" y="612165"/>
            <a:ext cx="6337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>
                <a:solidFill>
                  <a:srgbClr val="FF0000"/>
                </a:solidFill>
              </a:rPr>
              <a:t>Đăng xuất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CCE0AE-AC56-44BC-41C5-3D756EB5AF8E}"/>
              </a:ext>
            </a:extLst>
          </p:cNvPr>
          <p:cNvSpPr txBox="1"/>
          <p:nvPr/>
        </p:nvSpPr>
        <p:spPr>
          <a:xfrm>
            <a:off x="5570220" y="2042160"/>
            <a:ext cx="19173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/>
              <a:t>Lỗi deploy app BNCloud</a:t>
            </a:r>
          </a:p>
          <a:p>
            <a:r>
              <a:rPr lang="en-US" sz="600"/>
              <a:t>Phòng kỹ thuật — Cloud Storage</a:t>
            </a:r>
          </a:p>
          <a:p>
            <a:r>
              <a:rPr lang="en-US" sz="600"/>
              <a:t>2025-10-29</a:t>
            </a:r>
          </a:p>
          <a:p>
            <a:endParaRPr lang="en-US" sz="6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295CD6-7865-483C-E943-C37D8D9A505B}"/>
              </a:ext>
            </a:extLst>
          </p:cNvPr>
          <p:cNvSpPr txBox="1"/>
          <p:nvPr/>
        </p:nvSpPr>
        <p:spPr>
          <a:xfrm>
            <a:off x="7598866" y="2125624"/>
            <a:ext cx="61386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 b="0" i="0">
                <a:solidFill>
                  <a:schemeClr val="accent2"/>
                </a:solidFill>
                <a:effectLst/>
                <a:highlight>
                  <a:srgbClr val="FFFF00"/>
                </a:highlight>
                <a:latin typeface="ui-sans-serif"/>
              </a:rPr>
              <a:t>Đang xử lý</a:t>
            </a:r>
            <a:endParaRPr lang="en-US" sz="600">
              <a:solidFill>
                <a:schemeClr val="accent2"/>
              </a:solidFill>
              <a:highlight>
                <a:srgbClr val="FFFF00"/>
              </a:highlight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39723E-827A-DF81-60A5-4A14DBF346DF}"/>
              </a:ext>
            </a:extLst>
          </p:cNvPr>
          <p:cNvSpPr txBox="1"/>
          <p:nvPr/>
        </p:nvSpPr>
        <p:spPr>
          <a:xfrm>
            <a:off x="5551322" y="2472456"/>
            <a:ext cx="1917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600" b="1"/>
              <a:t>Không truy cập được báo cáo chi phí</a:t>
            </a:r>
          </a:p>
          <a:p>
            <a:r>
              <a:rPr lang="vi-VN" sz="600"/>
              <a:t>Phòng tài chính — Báo cáo</a:t>
            </a:r>
          </a:p>
          <a:p>
            <a:r>
              <a:rPr lang="vi-VN" sz="600"/>
              <a:t>2025-10-30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29398F-16CF-C672-341A-30A69BBF2BC8}"/>
              </a:ext>
            </a:extLst>
          </p:cNvPr>
          <p:cNvSpPr txBox="1"/>
          <p:nvPr/>
        </p:nvSpPr>
        <p:spPr>
          <a:xfrm>
            <a:off x="7609628" y="2586443"/>
            <a:ext cx="613868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">
                <a:solidFill>
                  <a:schemeClr val="bg1"/>
                </a:solidFill>
                <a:highlight>
                  <a:srgbClr val="008080"/>
                </a:highlight>
              </a:rPr>
              <a:t>Hoàn tất</a:t>
            </a:r>
          </a:p>
        </p:txBody>
      </p:sp>
      <p:sp>
        <p:nvSpPr>
          <p:cNvPr id="44" name="Flowchart: Alternate Process 43">
            <a:extLst>
              <a:ext uri="{FF2B5EF4-FFF2-40B4-BE49-F238E27FC236}">
                <a16:creationId xmlns:a16="http://schemas.microsoft.com/office/drawing/2014/main" id="{A453248A-300A-C989-6D25-16A6AFBCFC2E}"/>
              </a:ext>
            </a:extLst>
          </p:cNvPr>
          <p:cNvSpPr/>
          <p:nvPr/>
        </p:nvSpPr>
        <p:spPr>
          <a:xfrm>
            <a:off x="7372479" y="1344473"/>
            <a:ext cx="808799" cy="184666"/>
          </a:xfrm>
          <a:prstGeom prst="flowChartAlternateProcess">
            <a:avLst/>
          </a:prstGeom>
          <a:solidFill>
            <a:schemeClr val="tx2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500">
                <a:solidFill>
                  <a:schemeClr val="bg1"/>
                </a:solidFill>
              </a:rPr>
              <a:t>+ Tạo yêu cầu hỗ trợ</a:t>
            </a:r>
          </a:p>
        </p:txBody>
      </p:sp>
    </p:spTree>
    <p:extLst>
      <p:ext uri="{BB962C8B-B14F-4D97-AF65-F5344CB8AC3E}">
        <p14:creationId xmlns:p14="http://schemas.microsoft.com/office/powerpoint/2010/main" val="2813819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5454EC-79CF-6E2C-DC9F-8223A907C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410DEE-93F7-FFB2-BC07-B87993433816}"/>
              </a:ext>
            </a:extLst>
          </p:cNvPr>
          <p:cNvSpPr/>
          <p:nvPr/>
        </p:nvSpPr>
        <p:spPr>
          <a:xfrm>
            <a:off x="0" y="0"/>
            <a:ext cx="12192000" cy="412955"/>
          </a:xfrm>
          <a:prstGeom prst="rect">
            <a:avLst/>
          </a:prstGeom>
          <a:solidFill>
            <a:srgbClr val="1E2939"/>
          </a:solidFill>
          <a:ln>
            <a:solidFill>
              <a:srgbClr val="1E29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9FD5FA-FCFF-B7AD-7ACC-D9579CF876B9}"/>
              </a:ext>
            </a:extLst>
          </p:cNvPr>
          <p:cNvSpPr/>
          <p:nvPr/>
        </p:nvSpPr>
        <p:spPr>
          <a:xfrm>
            <a:off x="0" y="5712542"/>
            <a:ext cx="12192000" cy="1145458"/>
          </a:xfrm>
          <a:prstGeom prst="rect">
            <a:avLst/>
          </a:prstGeom>
          <a:solidFill>
            <a:srgbClr val="1018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0EA8C18-3E41-B69D-A7C0-32A5D596BE71}"/>
              </a:ext>
            </a:extLst>
          </p:cNvPr>
          <p:cNvCxnSpPr>
            <a:cxnSpLocks/>
          </p:cNvCxnSpPr>
          <p:nvPr/>
        </p:nvCxnSpPr>
        <p:spPr>
          <a:xfrm>
            <a:off x="3667432" y="6587613"/>
            <a:ext cx="4857136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572E4C4-6DB7-538B-BCDA-D8E6C0EDB11A}"/>
              </a:ext>
            </a:extLst>
          </p:cNvPr>
          <p:cNvSpPr/>
          <p:nvPr/>
        </p:nvSpPr>
        <p:spPr>
          <a:xfrm>
            <a:off x="3662131" y="487867"/>
            <a:ext cx="4857136" cy="519364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8F70D016-C6A4-A02B-6193-20EA5EB8FC5B}"/>
              </a:ext>
            </a:extLst>
          </p:cNvPr>
          <p:cNvSpPr/>
          <p:nvPr/>
        </p:nvSpPr>
        <p:spPr>
          <a:xfrm>
            <a:off x="7675699" y="85970"/>
            <a:ext cx="797741" cy="265736"/>
          </a:xfrm>
          <a:prstGeom prst="flowChartTerminator">
            <a:avLst/>
          </a:prstGeom>
          <a:solidFill>
            <a:srgbClr val="F2F2F2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7F12A3A3-E9B1-75B9-7388-981450A2C8A5}"/>
              </a:ext>
            </a:extLst>
          </p:cNvPr>
          <p:cNvSpPr>
            <a:spLocks/>
          </p:cNvSpPr>
          <p:nvPr/>
        </p:nvSpPr>
        <p:spPr>
          <a:xfrm>
            <a:off x="7709542" y="117217"/>
            <a:ext cx="207020" cy="200246"/>
          </a:xfrm>
          <a:prstGeom prst="flowChartConnector">
            <a:avLst/>
          </a:prstGeom>
          <a:solidFill>
            <a:srgbClr val="04D7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EF3A4D-BDA3-C35B-EC95-CDB363ED8E71}"/>
              </a:ext>
            </a:extLst>
          </p:cNvPr>
          <p:cNvSpPr/>
          <p:nvPr/>
        </p:nvSpPr>
        <p:spPr>
          <a:xfrm>
            <a:off x="3667432" y="5773751"/>
            <a:ext cx="1577693" cy="746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4D7F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LitePaas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4D7F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Cung cấp dịch vụ đám mây và giải pháp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Đảm bảo hiệu suất ổn định, bảo mật tối đa, hỗ trợ kỹ thuật tận tâm.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4D7F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14C8080-D88F-F63C-B97F-2D724762DD6A}"/>
              </a:ext>
            </a:extLst>
          </p:cNvPr>
          <p:cNvSpPr/>
          <p:nvPr/>
        </p:nvSpPr>
        <p:spPr>
          <a:xfrm>
            <a:off x="5307153" y="5773751"/>
            <a:ext cx="1577693" cy="74632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4D7F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Hỗ trợ 24/7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Đội ngũ hỗ trợ kỹ thuật của chúng tôi luôn sẵn sàng hỗ trợ bạn 24/24h.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Email: support@LitePaas.vn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Hotline: 1900 1234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52F5883-67B3-D9CA-C621-04653C1B4C26}"/>
              </a:ext>
            </a:extLst>
          </p:cNvPr>
          <p:cNvSpPr/>
          <p:nvPr/>
        </p:nvSpPr>
        <p:spPr>
          <a:xfrm>
            <a:off x="6941574" y="5773751"/>
            <a:ext cx="1577693" cy="74632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4D7F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Kết nối với chúng tôi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hlinkClick r:id="rId3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0B71E49-C810-FEC1-037B-166B0D5C6DFA}"/>
              </a:ext>
            </a:extLst>
          </p:cNvPr>
          <p:cNvSpPr txBox="1"/>
          <p:nvPr/>
        </p:nvSpPr>
        <p:spPr>
          <a:xfrm flipH="1">
            <a:off x="7675699" y="119367"/>
            <a:ext cx="27912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DV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E97B16-9957-CD37-37FE-7B0D937A5303}"/>
              </a:ext>
            </a:extLst>
          </p:cNvPr>
          <p:cNvSpPr txBox="1"/>
          <p:nvPr/>
        </p:nvSpPr>
        <p:spPr>
          <a:xfrm>
            <a:off x="7845729" y="118235"/>
            <a:ext cx="56792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Đinh vux…</a:t>
            </a:r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8686CD1B-6014-00E2-562B-C109A9BB60E5}"/>
              </a:ext>
            </a:extLst>
          </p:cNvPr>
          <p:cNvSpPr/>
          <p:nvPr/>
        </p:nvSpPr>
        <p:spPr>
          <a:xfrm>
            <a:off x="8345322" y="187708"/>
            <a:ext cx="5105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Flowchart: Terminator 33">
            <a:extLst>
              <a:ext uri="{FF2B5EF4-FFF2-40B4-BE49-F238E27FC236}">
                <a16:creationId xmlns:a16="http://schemas.microsoft.com/office/drawing/2014/main" id="{C422C529-629B-D683-5282-485A98656EE3}"/>
              </a:ext>
            </a:extLst>
          </p:cNvPr>
          <p:cNvSpPr/>
          <p:nvPr/>
        </p:nvSpPr>
        <p:spPr>
          <a:xfrm>
            <a:off x="7068270" y="6154948"/>
            <a:ext cx="419346" cy="228506"/>
          </a:xfrm>
          <a:prstGeom prst="flowChartTerminator">
            <a:avLst/>
          </a:prstGeom>
          <a:solidFill>
            <a:srgbClr val="F2F2F2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Zalo</a:t>
            </a:r>
          </a:p>
        </p:txBody>
      </p:sp>
      <p:sp>
        <p:nvSpPr>
          <p:cNvPr id="35" name="Flowchart: Terminator 34">
            <a:extLst>
              <a:ext uri="{FF2B5EF4-FFF2-40B4-BE49-F238E27FC236}">
                <a16:creationId xmlns:a16="http://schemas.microsoft.com/office/drawing/2014/main" id="{4F08F0A4-0045-F969-5775-6CF61D27257C}"/>
              </a:ext>
            </a:extLst>
          </p:cNvPr>
          <p:cNvSpPr/>
          <p:nvPr/>
        </p:nvSpPr>
        <p:spPr>
          <a:xfrm>
            <a:off x="7544344" y="6146913"/>
            <a:ext cx="602770" cy="244576"/>
          </a:xfrm>
          <a:prstGeom prst="flowChartTerminator">
            <a:avLst/>
          </a:prstGeom>
          <a:solidFill>
            <a:srgbClr val="F2F2F2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Facebook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D2DBC1F-7E76-E35B-62F6-87249E2C6F79}"/>
              </a:ext>
            </a:extLst>
          </p:cNvPr>
          <p:cNvSpPr txBox="1"/>
          <p:nvPr/>
        </p:nvSpPr>
        <p:spPr>
          <a:xfrm>
            <a:off x="5388078" y="6642429"/>
            <a:ext cx="14158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© 2025 </a:t>
            </a: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LitePaas</a:t>
            </a:r>
            <a:r>
              <a:rPr kumimoji="0" lang="vi-VN" sz="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 Tất cả các quyền được bảo lưu.</a:t>
            </a: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9" name="Picture 38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8DD117DC-A4DD-B602-255D-AF7F27F33F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280" y="85970"/>
            <a:ext cx="305581" cy="23330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C41A55AA-599A-BF84-B70D-F88CB078C04B}"/>
              </a:ext>
            </a:extLst>
          </p:cNvPr>
          <p:cNvSpPr txBox="1"/>
          <p:nvPr/>
        </p:nvSpPr>
        <p:spPr>
          <a:xfrm>
            <a:off x="4074167" y="104532"/>
            <a:ext cx="6390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LitePaas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0764F85-C069-B0AB-FE34-8EC1CD48CDB3}"/>
              </a:ext>
            </a:extLst>
          </p:cNvPr>
          <p:cNvSpPr/>
          <p:nvPr/>
        </p:nvSpPr>
        <p:spPr>
          <a:xfrm>
            <a:off x="5103830" y="690625"/>
            <a:ext cx="3455654" cy="248125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1A63B4-4EFD-945F-421E-20C7F42363C1}"/>
              </a:ext>
            </a:extLst>
          </p:cNvPr>
          <p:cNvSpPr/>
          <p:nvPr/>
        </p:nvSpPr>
        <p:spPr>
          <a:xfrm>
            <a:off x="3990834" y="555089"/>
            <a:ext cx="943897" cy="11535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8C3C32-ADED-B2D4-B449-35A3419D2094}"/>
              </a:ext>
            </a:extLst>
          </p:cNvPr>
          <p:cNvSpPr/>
          <p:nvPr/>
        </p:nvSpPr>
        <p:spPr>
          <a:xfrm>
            <a:off x="5262524" y="1176485"/>
            <a:ext cx="3082798" cy="16907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5562FA8-B145-3ACB-ACB2-20733FEEE498}"/>
              </a:ext>
            </a:extLst>
          </p:cNvPr>
          <p:cNvSpPr/>
          <p:nvPr/>
        </p:nvSpPr>
        <p:spPr>
          <a:xfrm>
            <a:off x="4074167" y="721360"/>
            <a:ext cx="777233" cy="1574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>
                <a:solidFill>
                  <a:schemeClr val="tx1"/>
                </a:solidFill>
              </a:rPr>
              <a:t>Tất cả dịch vụ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93C1EE0-ED96-7E1C-856D-F4FF4B9A8BF9}"/>
              </a:ext>
            </a:extLst>
          </p:cNvPr>
          <p:cNvSpPr/>
          <p:nvPr/>
        </p:nvSpPr>
        <p:spPr>
          <a:xfrm>
            <a:off x="4074167" y="914724"/>
            <a:ext cx="777233" cy="1574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>
                <a:solidFill>
                  <a:schemeClr val="tx1"/>
                </a:solidFill>
              </a:rPr>
              <a:t>Dịch vụ của tôi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867D222-A05F-BA1B-A246-2E9FE6CEF804}"/>
              </a:ext>
            </a:extLst>
          </p:cNvPr>
          <p:cNvSpPr/>
          <p:nvPr/>
        </p:nvSpPr>
        <p:spPr>
          <a:xfrm>
            <a:off x="4074167" y="1095342"/>
            <a:ext cx="777233" cy="1574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>
                <a:solidFill>
                  <a:schemeClr val="tx1"/>
                </a:solidFill>
              </a:rPr>
              <a:t>Yêu cầu hỗ trợ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43634F9-AE5C-52AB-B078-5C7B1D716859}"/>
              </a:ext>
            </a:extLst>
          </p:cNvPr>
          <p:cNvSpPr/>
          <p:nvPr/>
        </p:nvSpPr>
        <p:spPr>
          <a:xfrm>
            <a:off x="4074167" y="1287328"/>
            <a:ext cx="777233" cy="157480"/>
          </a:xfrm>
          <a:prstGeom prst="roundRect">
            <a:avLst/>
          </a:prstGeom>
          <a:solidFill>
            <a:srgbClr val="1E29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>
                <a:solidFill>
                  <a:schemeClr val="bg1"/>
                </a:solidFill>
              </a:rPr>
              <a:t>Hóa đơn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41DDEC2-445A-E188-CE82-D5AC1655BEF6}"/>
              </a:ext>
            </a:extLst>
          </p:cNvPr>
          <p:cNvSpPr/>
          <p:nvPr/>
        </p:nvSpPr>
        <p:spPr>
          <a:xfrm>
            <a:off x="4074167" y="1479314"/>
            <a:ext cx="777233" cy="1574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>
                <a:solidFill>
                  <a:schemeClr val="tx1"/>
                </a:solidFill>
              </a:rPr>
              <a:t>Lịch sử thanh toán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2DEB12-7D80-E1D5-FA95-6EECBA5F9B3A}"/>
              </a:ext>
            </a:extLst>
          </p:cNvPr>
          <p:cNvSpPr txBox="1"/>
          <p:nvPr/>
        </p:nvSpPr>
        <p:spPr>
          <a:xfrm>
            <a:off x="5365131" y="749038"/>
            <a:ext cx="17698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b="1"/>
              <a:t>Hóa đơn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90111A8-94ED-19E8-2829-DE7AB2360788}"/>
              </a:ext>
            </a:extLst>
          </p:cNvPr>
          <p:cNvSpPr txBox="1"/>
          <p:nvPr/>
        </p:nvSpPr>
        <p:spPr>
          <a:xfrm>
            <a:off x="5387491" y="1214533"/>
            <a:ext cx="2370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/>
              <a:t>Danh sách hóa đơn</a:t>
            </a:r>
            <a:endParaRPr lang="en-US" sz="1400" b="1"/>
          </a:p>
          <a:p>
            <a:r>
              <a:rPr lang="vi-VN" sz="400"/>
              <a:t>Theo dõi tất cả hóa đơn dịch vụ của bạn trên </a:t>
            </a:r>
            <a:r>
              <a:rPr lang="en-US" sz="400"/>
              <a:t>LitePaas</a:t>
            </a:r>
            <a:endParaRPr lang="vi-VN" sz="400" b="1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B73121C5-B208-0F95-F64F-528B188105FF}"/>
              </a:ext>
            </a:extLst>
          </p:cNvPr>
          <p:cNvSpPr/>
          <p:nvPr/>
        </p:nvSpPr>
        <p:spPr>
          <a:xfrm>
            <a:off x="7709542" y="412955"/>
            <a:ext cx="704114" cy="36401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8E47D29-FEFD-95AA-FF6A-638955A7DFA0}"/>
              </a:ext>
            </a:extLst>
          </p:cNvPr>
          <p:cNvCxnSpPr>
            <a:cxnSpLocks/>
            <a:stCxn id="57" idx="1"/>
            <a:endCxn id="57" idx="3"/>
          </p:cNvCxnSpPr>
          <p:nvPr/>
        </p:nvCxnSpPr>
        <p:spPr>
          <a:xfrm>
            <a:off x="7709542" y="594964"/>
            <a:ext cx="70411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E6457879-A028-2F97-2012-688A9A9700E0}"/>
              </a:ext>
            </a:extLst>
          </p:cNvPr>
          <p:cNvSpPr txBox="1"/>
          <p:nvPr/>
        </p:nvSpPr>
        <p:spPr>
          <a:xfrm>
            <a:off x="7757710" y="429822"/>
            <a:ext cx="6337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/>
              <a:t>Thông tin tài khoản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E66D305-3F39-9923-DB10-7624853088EB}"/>
              </a:ext>
            </a:extLst>
          </p:cNvPr>
          <p:cNvSpPr txBox="1"/>
          <p:nvPr/>
        </p:nvSpPr>
        <p:spPr>
          <a:xfrm>
            <a:off x="7757710" y="612165"/>
            <a:ext cx="6337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>
                <a:solidFill>
                  <a:srgbClr val="FF0000"/>
                </a:solidFill>
              </a:rPr>
              <a:t>Đăng xuất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90C81E7-25C1-51F3-E6B8-EC6F41BDDF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524383"/>
              </p:ext>
            </p:extLst>
          </p:nvPr>
        </p:nvGraphicFramePr>
        <p:xfrm>
          <a:off x="5365131" y="1663007"/>
          <a:ext cx="2833794" cy="1005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2299">
                  <a:extLst>
                    <a:ext uri="{9D8B030D-6E8A-4147-A177-3AD203B41FA5}">
                      <a16:colId xmlns:a16="http://schemas.microsoft.com/office/drawing/2014/main" val="3518164750"/>
                    </a:ext>
                  </a:extLst>
                </a:gridCol>
                <a:gridCol w="472299">
                  <a:extLst>
                    <a:ext uri="{9D8B030D-6E8A-4147-A177-3AD203B41FA5}">
                      <a16:colId xmlns:a16="http://schemas.microsoft.com/office/drawing/2014/main" val="1574975707"/>
                    </a:ext>
                  </a:extLst>
                </a:gridCol>
                <a:gridCol w="472299">
                  <a:extLst>
                    <a:ext uri="{9D8B030D-6E8A-4147-A177-3AD203B41FA5}">
                      <a16:colId xmlns:a16="http://schemas.microsoft.com/office/drawing/2014/main" val="701499025"/>
                    </a:ext>
                  </a:extLst>
                </a:gridCol>
                <a:gridCol w="472299">
                  <a:extLst>
                    <a:ext uri="{9D8B030D-6E8A-4147-A177-3AD203B41FA5}">
                      <a16:colId xmlns:a16="http://schemas.microsoft.com/office/drawing/2014/main" val="2433666748"/>
                    </a:ext>
                  </a:extLst>
                </a:gridCol>
                <a:gridCol w="472299">
                  <a:extLst>
                    <a:ext uri="{9D8B030D-6E8A-4147-A177-3AD203B41FA5}">
                      <a16:colId xmlns:a16="http://schemas.microsoft.com/office/drawing/2014/main" val="325611802"/>
                    </a:ext>
                  </a:extLst>
                </a:gridCol>
                <a:gridCol w="472299">
                  <a:extLst>
                    <a:ext uri="{9D8B030D-6E8A-4147-A177-3AD203B41FA5}">
                      <a16:colId xmlns:a16="http://schemas.microsoft.com/office/drawing/2014/main" val="56624828"/>
                    </a:ext>
                  </a:extLst>
                </a:gridCol>
              </a:tblGrid>
              <a:tr h="213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b="1">
                          <a:effectLst/>
                        </a:rPr>
                        <a:t>Mã HĐ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b="1">
                          <a:effectLst/>
                        </a:rPr>
                        <a:t>Khách hàng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b="1">
                          <a:effectLst/>
                        </a:rPr>
                        <a:t>Dịch vụ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b="1">
                          <a:effectLst/>
                        </a:rPr>
                        <a:t>Ngày tạo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b="1">
                          <a:effectLst/>
                        </a:rPr>
                        <a:t>Số tiền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b="1">
                          <a:effectLst/>
                        </a:rPr>
                        <a:t>Trạng thái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20858041"/>
                  </a:ext>
                </a:extLst>
              </a:tr>
              <a:tr h="213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b="0">
                          <a:effectLst/>
                        </a:rPr>
                        <a:t>#1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Vũ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600">
                          <a:effectLst/>
                        </a:rPr>
                        <a:t>Dịch vụ lưu trữ Minio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2025-10-15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b="1">
                          <a:effectLst/>
                        </a:rPr>
                        <a:t>10.000đ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600" b="1">
                          <a:solidFill>
                            <a:srgbClr val="FF0000"/>
                          </a:solidFill>
                          <a:effectLst/>
                        </a:rPr>
                        <a:t>Chưa thanh toán</a:t>
                      </a:r>
                      <a:endParaRPr lang="vi-VN" sz="60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2819965"/>
                  </a:ext>
                </a:extLst>
              </a:tr>
              <a:tr h="213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b="0">
                          <a:effectLst/>
                        </a:rPr>
                        <a:t>#2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Vũ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Database MySQL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effectLst/>
                        </a:rPr>
                        <a:t>2025-10-12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b="1">
                          <a:effectLst/>
                        </a:rPr>
                        <a:t>10.000đ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600" b="1">
                          <a:solidFill>
                            <a:srgbClr val="FF0000"/>
                          </a:solidFill>
                          <a:effectLst/>
                        </a:rPr>
                        <a:t>Chưa thanh toán</a:t>
                      </a:r>
                      <a:endParaRPr lang="vi-VN" sz="60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350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62006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105EFC-39ED-2D9A-50DD-7BF958FC2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853C6C-254D-B42E-7B78-4BA2BE82312E}"/>
              </a:ext>
            </a:extLst>
          </p:cNvPr>
          <p:cNvSpPr/>
          <p:nvPr/>
        </p:nvSpPr>
        <p:spPr>
          <a:xfrm>
            <a:off x="0" y="0"/>
            <a:ext cx="12192000" cy="412955"/>
          </a:xfrm>
          <a:prstGeom prst="rect">
            <a:avLst/>
          </a:prstGeom>
          <a:solidFill>
            <a:srgbClr val="1E2939"/>
          </a:solidFill>
          <a:ln>
            <a:solidFill>
              <a:srgbClr val="1E293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1F82F1-47A9-4005-5BA8-E930A2C3035B}"/>
              </a:ext>
            </a:extLst>
          </p:cNvPr>
          <p:cNvSpPr/>
          <p:nvPr/>
        </p:nvSpPr>
        <p:spPr>
          <a:xfrm>
            <a:off x="0" y="5712542"/>
            <a:ext cx="12192000" cy="1145458"/>
          </a:xfrm>
          <a:prstGeom prst="rect">
            <a:avLst/>
          </a:prstGeom>
          <a:solidFill>
            <a:srgbClr val="10182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60D8E07-1579-0210-1267-6EACD8B1F322}"/>
              </a:ext>
            </a:extLst>
          </p:cNvPr>
          <p:cNvCxnSpPr>
            <a:cxnSpLocks/>
          </p:cNvCxnSpPr>
          <p:nvPr/>
        </p:nvCxnSpPr>
        <p:spPr>
          <a:xfrm>
            <a:off x="3667432" y="6587613"/>
            <a:ext cx="4857136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B8FF1A3-14FA-FEA5-B190-FD9092C91C81}"/>
              </a:ext>
            </a:extLst>
          </p:cNvPr>
          <p:cNvSpPr/>
          <p:nvPr/>
        </p:nvSpPr>
        <p:spPr>
          <a:xfrm>
            <a:off x="3662131" y="487867"/>
            <a:ext cx="4857136" cy="519364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Flowchart: Terminator 21">
            <a:extLst>
              <a:ext uri="{FF2B5EF4-FFF2-40B4-BE49-F238E27FC236}">
                <a16:creationId xmlns:a16="http://schemas.microsoft.com/office/drawing/2014/main" id="{A0FFEE42-6156-71B3-5E0B-C0D1925B1DBC}"/>
              </a:ext>
            </a:extLst>
          </p:cNvPr>
          <p:cNvSpPr/>
          <p:nvPr/>
        </p:nvSpPr>
        <p:spPr>
          <a:xfrm>
            <a:off x="7675699" y="85970"/>
            <a:ext cx="797741" cy="265736"/>
          </a:xfrm>
          <a:prstGeom prst="flowChartTerminator">
            <a:avLst/>
          </a:prstGeom>
          <a:solidFill>
            <a:srgbClr val="F2F2F2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658E6250-F4C4-26A0-356D-91C0A957F291}"/>
              </a:ext>
            </a:extLst>
          </p:cNvPr>
          <p:cNvSpPr>
            <a:spLocks/>
          </p:cNvSpPr>
          <p:nvPr/>
        </p:nvSpPr>
        <p:spPr>
          <a:xfrm>
            <a:off x="7709542" y="117217"/>
            <a:ext cx="207020" cy="200246"/>
          </a:xfrm>
          <a:prstGeom prst="flowChartConnector">
            <a:avLst/>
          </a:prstGeom>
          <a:solidFill>
            <a:srgbClr val="04D7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306E19-D987-A9F4-4BEB-A4478CBB74FF}"/>
              </a:ext>
            </a:extLst>
          </p:cNvPr>
          <p:cNvSpPr/>
          <p:nvPr/>
        </p:nvSpPr>
        <p:spPr>
          <a:xfrm>
            <a:off x="3667432" y="5773751"/>
            <a:ext cx="1577693" cy="7463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4D7F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LitePaas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4D7F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Cung cấp dịch vụ đám mây và giải pháp triển khai ứng dụng nhanh chóng, an toàn và linh hoạt.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Đảm bảo hiệu suất ổn định, bảo mật tối đa, hỗ trợ kỹ thuật tận tâm.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4D7F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D26725C-1255-A618-E23B-E1281A767155}"/>
              </a:ext>
            </a:extLst>
          </p:cNvPr>
          <p:cNvSpPr/>
          <p:nvPr/>
        </p:nvSpPr>
        <p:spPr>
          <a:xfrm>
            <a:off x="5307153" y="5773751"/>
            <a:ext cx="1577693" cy="74632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4D7F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Hỗ trợ 24/7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Đội ngũ hỗ trợ kỹ thuật của chúng tôi luôn sẵn sàng hỗ trợ bạn 24/24h.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Email: support@LitePaas.vn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Hotline: 1900 1234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AE1FB51-D480-9EED-E23A-FB7E479225A4}"/>
              </a:ext>
            </a:extLst>
          </p:cNvPr>
          <p:cNvSpPr/>
          <p:nvPr/>
        </p:nvSpPr>
        <p:spPr>
          <a:xfrm>
            <a:off x="6941574" y="5773751"/>
            <a:ext cx="1577693" cy="746324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4D7F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Kết nối với chúng tôi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hlinkClick r:id="rId3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8B8892-6B3E-EE5F-6ABC-9AB2564A43F8}"/>
              </a:ext>
            </a:extLst>
          </p:cNvPr>
          <p:cNvSpPr txBox="1"/>
          <p:nvPr/>
        </p:nvSpPr>
        <p:spPr>
          <a:xfrm flipH="1">
            <a:off x="7675699" y="119367"/>
            <a:ext cx="27912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DV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F83DFE-ED8B-0A0B-D36E-70D5ED8BE5EE}"/>
              </a:ext>
            </a:extLst>
          </p:cNvPr>
          <p:cNvSpPr txBox="1"/>
          <p:nvPr/>
        </p:nvSpPr>
        <p:spPr>
          <a:xfrm>
            <a:off x="7845729" y="118235"/>
            <a:ext cx="56792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Đinh vux…</a:t>
            </a:r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F6BD2300-1C13-1C43-FBAF-A928C2BB5A02}"/>
              </a:ext>
            </a:extLst>
          </p:cNvPr>
          <p:cNvSpPr/>
          <p:nvPr/>
        </p:nvSpPr>
        <p:spPr>
          <a:xfrm>
            <a:off x="8345322" y="187708"/>
            <a:ext cx="51054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Flowchart: Terminator 33">
            <a:extLst>
              <a:ext uri="{FF2B5EF4-FFF2-40B4-BE49-F238E27FC236}">
                <a16:creationId xmlns:a16="http://schemas.microsoft.com/office/drawing/2014/main" id="{BED4E3D3-0F1A-B980-105B-5D0D53578E8C}"/>
              </a:ext>
            </a:extLst>
          </p:cNvPr>
          <p:cNvSpPr/>
          <p:nvPr/>
        </p:nvSpPr>
        <p:spPr>
          <a:xfrm>
            <a:off x="7068270" y="6154948"/>
            <a:ext cx="419346" cy="228506"/>
          </a:xfrm>
          <a:prstGeom prst="flowChartTerminator">
            <a:avLst/>
          </a:prstGeom>
          <a:solidFill>
            <a:srgbClr val="F2F2F2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Zalo</a:t>
            </a:r>
          </a:p>
        </p:txBody>
      </p:sp>
      <p:sp>
        <p:nvSpPr>
          <p:cNvPr id="35" name="Flowchart: Terminator 34">
            <a:extLst>
              <a:ext uri="{FF2B5EF4-FFF2-40B4-BE49-F238E27FC236}">
                <a16:creationId xmlns:a16="http://schemas.microsoft.com/office/drawing/2014/main" id="{E83444B4-FFCA-E6F9-9ED2-D9C5EFB66A91}"/>
              </a:ext>
            </a:extLst>
          </p:cNvPr>
          <p:cNvSpPr/>
          <p:nvPr/>
        </p:nvSpPr>
        <p:spPr>
          <a:xfrm>
            <a:off x="7544344" y="6146913"/>
            <a:ext cx="602770" cy="244576"/>
          </a:xfrm>
          <a:prstGeom prst="flowChartTerminator">
            <a:avLst/>
          </a:prstGeom>
          <a:solidFill>
            <a:srgbClr val="F2F2F2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Facebook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4DEA532-D12C-9C43-44D1-552D23E14861}"/>
              </a:ext>
            </a:extLst>
          </p:cNvPr>
          <p:cNvSpPr txBox="1"/>
          <p:nvPr/>
        </p:nvSpPr>
        <p:spPr>
          <a:xfrm>
            <a:off x="5388078" y="6642429"/>
            <a:ext cx="1415845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© 2025 </a:t>
            </a:r>
            <a:r>
              <a:rPr kumimoji="0" lang="en-US" sz="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LitePaas</a:t>
            </a:r>
            <a:r>
              <a:rPr kumimoji="0" lang="vi-VN" sz="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. Tất cả các quyền được bảo lưu.</a:t>
            </a:r>
            <a:endParaRPr kumimoji="0" lang="en-US" sz="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39" name="Picture 38" descr="A blue cloud with a white arrow&#10;&#10;AI-generated content may be incorrect.">
            <a:extLst>
              <a:ext uri="{FF2B5EF4-FFF2-40B4-BE49-F238E27FC236}">
                <a16:creationId xmlns:a16="http://schemas.microsoft.com/office/drawing/2014/main" id="{1683F37D-4D94-1058-E3CD-7E84D20B34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280" y="85970"/>
            <a:ext cx="305581" cy="23330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6D79F7D-0225-7A14-48F5-85F7BB495914}"/>
              </a:ext>
            </a:extLst>
          </p:cNvPr>
          <p:cNvSpPr txBox="1"/>
          <p:nvPr/>
        </p:nvSpPr>
        <p:spPr>
          <a:xfrm>
            <a:off x="4074167" y="104532"/>
            <a:ext cx="63909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LitePaas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FDA70C1-21BA-BFD7-622D-B834887F215D}"/>
              </a:ext>
            </a:extLst>
          </p:cNvPr>
          <p:cNvSpPr/>
          <p:nvPr/>
        </p:nvSpPr>
        <p:spPr>
          <a:xfrm>
            <a:off x="5076096" y="709970"/>
            <a:ext cx="3455654" cy="244471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7F36D2-80B8-B3A8-7E94-7DF74AF29692}"/>
              </a:ext>
            </a:extLst>
          </p:cNvPr>
          <p:cNvSpPr/>
          <p:nvPr/>
        </p:nvSpPr>
        <p:spPr>
          <a:xfrm>
            <a:off x="3990834" y="555089"/>
            <a:ext cx="943897" cy="11535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EF4C1A-A705-28DB-85A0-72C596DB067B}"/>
              </a:ext>
            </a:extLst>
          </p:cNvPr>
          <p:cNvSpPr/>
          <p:nvPr/>
        </p:nvSpPr>
        <p:spPr>
          <a:xfrm>
            <a:off x="5282476" y="1177124"/>
            <a:ext cx="3082798" cy="17648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D65A33F-EE0B-C476-DC0A-1A524111475F}"/>
              </a:ext>
            </a:extLst>
          </p:cNvPr>
          <p:cNvSpPr/>
          <p:nvPr/>
        </p:nvSpPr>
        <p:spPr>
          <a:xfrm>
            <a:off x="4074167" y="721360"/>
            <a:ext cx="777233" cy="1574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>
                <a:solidFill>
                  <a:schemeClr val="tx1"/>
                </a:solidFill>
              </a:rPr>
              <a:t>Tất cả dịch vụ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FA8E4AF-1C5E-21C5-EFC9-0F6A3FE8B47B}"/>
              </a:ext>
            </a:extLst>
          </p:cNvPr>
          <p:cNvSpPr/>
          <p:nvPr/>
        </p:nvSpPr>
        <p:spPr>
          <a:xfrm>
            <a:off x="4074167" y="914724"/>
            <a:ext cx="777233" cy="15748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>
                <a:solidFill>
                  <a:schemeClr val="tx1"/>
                </a:solidFill>
              </a:rPr>
              <a:t>Dịch vụ của tôi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9036547-3A70-BB2F-68E2-67507B1705CB}"/>
              </a:ext>
            </a:extLst>
          </p:cNvPr>
          <p:cNvSpPr/>
          <p:nvPr/>
        </p:nvSpPr>
        <p:spPr>
          <a:xfrm>
            <a:off x="4074167" y="1095342"/>
            <a:ext cx="777233" cy="1574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>
                <a:solidFill>
                  <a:schemeClr val="tx1"/>
                </a:solidFill>
              </a:rPr>
              <a:t>Yêu cầu hỗ trợ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5DA473C-98F4-134B-BAE8-E15B503E34A9}"/>
              </a:ext>
            </a:extLst>
          </p:cNvPr>
          <p:cNvSpPr/>
          <p:nvPr/>
        </p:nvSpPr>
        <p:spPr>
          <a:xfrm>
            <a:off x="4074167" y="1287328"/>
            <a:ext cx="777233" cy="1574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>
                <a:solidFill>
                  <a:schemeClr val="tx1"/>
                </a:solidFill>
              </a:rPr>
              <a:t>Hóa đơn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28AE841-2F76-0237-4476-16894D18DFED}"/>
              </a:ext>
            </a:extLst>
          </p:cNvPr>
          <p:cNvSpPr/>
          <p:nvPr/>
        </p:nvSpPr>
        <p:spPr>
          <a:xfrm>
            <a:off x="4074167" y="1479314"/>
            <a:ext cx="777233" cy="157480"/>
          </a:xfrm>
          <a:prstGeom prst="roundRect">
            <a:avLst/>
          </a:prstGeom>
          <a:solidFill>
            <a:srgbClr val="1E293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">
                <a:solidFill>
                  <a:schemeClr val="bg1"/>
                </a:solidFill>
              </a:rPr>
              <a:t>Lịch sử thanh toán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6AD435-F2A1-A2C5-EC45-536570E84B5A}"/>
              </a:ext>
            </a:extLst>
          </p:cNvPr>
          <p:cNvSpPr txBox="1"/>
          <p:nvPr/>
        </p:nvSpPr>
        <p:spPr>
          <a:xfrm>
            <a:off x="5365131" y="749038"/>
            <a:ext cx="17698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200" b="1"/>
              <a:t>Lịch sử hóa đơn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B46AFF-21F7-FEE4-98E7-50C638CECFC4}"/>
              </a:ext>
            </a:extLst>
          </p:cNvPr>
          <p:cNvSpPr txBox="1"/>
          <p:nvPr/>
        </p:nvSpPr>
        <p:spPr>
          <a:xfrm>
            <a:off x="5387491" y="1214533"/>
            <a:ext cx="2370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/>
              <a:t>Lịch sử hóa đơn</a:t>
            </a:r>
            <a:endParaRPr lang="en-US" sz="1400" b="1"/>
          </a:p>
          <a:p>
            <a:r>
              <a:rPr lang="en-US" sz="400"/>
              <a:t>Theo dõi và quản lý lịch sử thanh toán dịch vụ</a:t>
            </a:r>
            <a:endParaRPr lang="vi-VN" sz="400" b="1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606A583E-25C5-F3A9-2C66-33F3799DCED9}"/>
              </a:ext>
            </a:extLst>
          </p:cNvPr>
          <p:cNvSpPr/>
          <p:nvPr/>
        </p:nvSpPr>
        <p:spPr>
          <a:xfrm>
            <a:off x="7709542" y="412955"/>
            <a:ext cx="704114" cy="364017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281ADBA-9268-B19E-AE92-955EE0C1A74A}"/>
              </a:ext>
            </a:extLst>
          </p:cNvPr>
          <p:cNvCxnSpPr>
            <a:cxnSpLocks/>
            <a:stCxn id="57" idx="1"/>
            <a:endCxn id="57" idx="3"/>
          </p:cNvCxnSpPr>
          <p:nvPr/>
        </p:nvCxnSpPr>
        <p:spPr>
          <a:xfrm>
            <a:off x="7709542" y="594964"/>
            <a:ext cx="704114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6CF54B01-9D40-1D1F-9BE7-2913186A58D1}"/>
              </a:ext>
            </a:extLst>
          </p:cNvPr>
          <p:cNvSpPr txBox="1"/>
          <p:nvPr/>
        </p:nvSpPr>
        <p:spPr>
          <a:xfrm>
            <a:off x="7757710" y="429822"/>
            <a:ext cx="6337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/>
              <a:t>Thông tin tài khoản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FDC46F7-1C03-5BDD-4055-1CF8FA2E296A}"/>
              </a:ext>
            </a:extLst>
          </p:cNvPr>
          <p:cNvSpPr txBox="1"/>
          <p:nvPr/>
        </p:nvSpPr>
        <p:spPr>
          <a:xfrm>
            <a:off x="7757710" y="612165"/>
            <a:ext cx="633718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>
                <a:solidFill>
                  <a:srgbClr val="FF0000"/>
                </a:solidFill>
              </a:rPr>
              <a:t>Đăng xuất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D8835DA-84CE-87A3-D4DA-2DD629F467CD}"/>
              </a:ext>
            </a:extLst>
          </p:cNvPr>
          <p:cNvGraphicFramePr>
            <a:graphicFrameLocks noGrp="1"/>
          </p:cNvGraphicFramePr>
          <p:nvPr/>
        </p:nvGraphicFramePr>
        <p:xfrm>
          <a:off x="5307153" y="2007529"/>
          <a:ext cx="301048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57">
                  <a:extLst>
                    <a:ext uri="{9D8B030D-6E8A-4147-A177-3AD203B41FA5}">
                      <a16:colId xmlns:a16="http://schemas.microsoft.com/office/drawing/2014/main" val="1632719754"/>
                    </a:ext>
                  </a:extLst>
                </a:gridCol>
                <a:gridCol w="434340">
                  <a:extLst>
                    <a:ext uri="{9D8B030D-6E8A-4147-A177-3AD203B41FA5}">
                      <a16:colId xmlns:a16="http://schemas.microsoft.com/office/drawing/2014/main" val="1606968160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1103470889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1257053153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1670634193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389430438"/>
                    </a:ext>
                  </a:extLst>
                </a:gridCol>
                <a:gridCol w="697639">
                  <a:extLst>
                    <a:ext uri="{9D8B030D-6E8A-4147-A177-3AD203B41FA5}">
                      <a16:colId xmlns:a16="http://schemas.microsoft.com/office/drawing/2014/main" val="3848433596"/>
                    </a:ext>
                  </a:extLst>
                </a:gridCol>
              </a:tblGrid>
              <a:tr h="2252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vi-VN" sz="400" b="0" cap="all">
                          <a:solidFill>
                            <a:schemeClr val="tx1"/>
                          </a:solidFill>
                          <a:effectLst/>
                        </a:rPr>
                        <a:t>Mã hóa đơn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400" b="0" cap="all">
                          <a:solidFill>
                            <a:schemeClr val="tx1"/>
                          </a:solidFill>
                          <a:effectLst/>
                        </a:rPr>
                        <a:t>Ngày tạo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400" b="0" cap="all">
                          <a:solidFill>
                            <a:schemeClr val="tx1"/>
                          </a:solidFill>
                          <a:effectLst/>
                        </a:rPr>
                        <a:t>Dịch vụ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400" b="0" cap="all">
                          <a:solidFill>
                            <a:schemeClr val="tx1"/>
                          </a:solidFill>
                          <a:effectLst/>
                        </a:rPr>
                        <a:t>Số tiền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400" b="0" cap="all">
                          <a:solidFill>
                            <a:schemeClr val="tx1"/>
                          </a:solidFill>
                          <a:effectLst/>
                        </a:rPr>
                        <a:t>Trạng thái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400" b="0" cap="all">
                          <a:solidFill>
                            <a:schemeClr val="tx1"/>
                          </a:solidFill>
                          <a:effectLst/>
                        </a:rPr>
                        <a:t>Hạn thanh toán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400" b="0" cap="all">
                          <a:solidFill>
                            <a:schemeClr val="tx1"/>
                          </a:solidFill>
                          <a:effectLst/>
                        </a:rPr>
                        <a:t>Thao tác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90671"/>
                  </a:ext>
                </a:extLst>
              </a:tr>
              <a:tr h="22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" b="0">
                          <a:effectLst/>
                        </a:rPr>
                        <a:t>#1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">
                          <a:effectLst/>
                        </a:rPr>
                        <a:t>15/10/2024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">
                          <a:effectLst/>
                        </a:rPr>
                        <a:t>MySQL Database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" b="0">
                          <a:effectLst/>
                        </a:rPr>
                        <a:t>10.000 ₫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" b="1">
                          <a:solidFill>
                            <a:srgbClr val="4EA72E"/>
                          </a:solidFill>
                          <a:effectLst/>
                        </a:rPr>
                        <a:t>Đã thanh toán</a:t>
                      </a:r>
                      <a:endParaRPr lang="en-US" sz="400">
                        <a:solidFill>
                          <a:srgbClr val="4EA72E"/>
                        </a:solidFill>
                        <a:effectLst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">
                          <a:effectLst/>
                        </a:rPr>
                        <a:t>30/10/2024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" b="0">
                          <a:solidFill>
                            <a:schemeClr val="tx2">
                              <a:lumMod val="50000"/>
                              <a:lumOff val="50000"/>
                            </a:schemeClr>
                          </a:solidFill>
                          <a:effectLst/>
                        </a:rPr>
                        <a:t>Xem chi tiết  </a:t>
                      </a:r>
                      <a:r>
                        <a:rPr lang="en-US" sz="400" b="0">
                          <a:solidFill>
                            <a:schemeClr val="accent6"/>
                          </a:solidFill>
                          <a:effectLst/>
                        </a:rPr>
                        <a:t>Tải xuống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07378473"/>
                  </a:ext>
                </a:extLst>
              </a:tr>
              <a:tr h="22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" b="0">
                          <a:effectLst/>
                        </a:rPr>
                        <a:t>#2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">
                          <a:effectLst/>
                        </a:rPr>
                        <a:t>01/10/2024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">
                          <a:effectLst/>
                        </a:rPr>
                        <a:t>Golang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" b="0">
                          <a:effectLst/>
                        </a:rPr>
                        <a:t>10.000 ₫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" b="1">
                          <a:solidFill>
                            <a:srgbClr val="4EA72E"/>
                          </a:solidFill>
                          <a:effectLst/>
                        </a:rPr>
                        <a:t>Đã thanh toán</a:t>
                      </a:r>
                      <a:endParaRPr lang="en-US" sz="400">
                        <a:solidFill>
                          <a:srgbClr val="4EA72E"/>
                        </a:solidFill>
                        <a:effectLst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">
                          <a:effectLst/>
                        </a:rPr>
                        <a:t>15/10/2024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400" b="0">
                          <a:solidFill>
                            <a:srgbClr val="64A0D9"/>
                          </a:solidFill>
                          <a:effectLst/>
                        </a:rPr>
                        <a:t>Xem chi tiết </a:t>
                      </a:r>
                      <a:r>
                        <a:rPr lang="en-US" sz="400" b="0">
                          <a:solidFill>
                            <a:schemeClr val="accent6"/>
                          </a:solidFill>
                          <a:effectLst/>
                        </a:rPr>
                        <a:t>Tải xuống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2456873"/>
                  </a:ext>
                </a:extLst>
              </a:tr>
            </a:tbl>
          </a:graphicData>
        </a:graphic>
      </p:graphicFrame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E24E705-F30A-57A3-6D52-AED100F30624}"/>
              </a:ext>
            </a:extLst>
          </p:cNvPr>
          <p:cNvSpPr/>
          <p:nvPr/>
        </p:nvSpPr>
        <p:spPr>
          <a:xfrm>
            <a:off x="5430520" y="1636794"/>
            <a:ext cx="868680" cy="291469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">
                <a:solidFill>
                  <a:schemeClr val="tx1"/>
                </a:solidFill>
              </a:rPr>
              <a:t>Tổng đã thanh toán</a:t>
            </a:r>
          </a:p>
          <a:p>
            <a:r>
              <a:rPr lang="en-US" sz="600" b="1">
                <a:solidFill>
                  <a:schemeClr val="tx1"/>
                </a:solidFill>
              </a:rPr>
              <a:t>20.000 ₫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3A76004-56E4-5962-8554-5237017284B3}"/>
              </a:ext>
            </a:extLst>
          </p:cNvPr>
          <p:cNvSpPr/>
          <p:nvPr/>
        </p:nvSpPr>
        <p:spPr>
          <a:xfrm>
            <a:off x="6402603" y="1636794"/>
            <a:ext cx="817366" cy="291469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">
                <a:solidFill>
                  <a:schemeClr val="tx1"/>
                </a:solidFill>
              </a:rPr>
              <a:t>Hoàn thành hóa đơn</a:t>
            </a:r>
          </a:p>
          <a:p>
            <a:r>
              <a:rPr lang="en-US" sz="600" b="1">
                <a:solidFill>
                  <a:schemeClr val="tx1"/>
                </a:solidFill>
              </a:rPr>
              <a:t>2</a:t>
            </a:r>
            <a:endParaRPr lang="vi-VN" sz="600" b="1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E4E82FB-482C-5356-9437-7C1F0F1325C2}"/>
              </a:ext>
            </a:extLst>
          </p:cNvPr>
          <p:cNvSpPr/>
          <p:nvPr/>
        </p:nvSpPr>
        <p:spPr>
          <a:xfrm>
            <a:off x="7373962" y="1635962"/>
            <a:ext cx="848018" cy="291469"/>
          </a:xfrm>
          <a:prstGeom prst="roundRect">
            <a:avLst/>
          </a:prstGeom>
          <a:solidFill>
            <a:srgbClr val="FFCC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">
                <a:solidFill>
                  <a:schemeClr val="tx1"/>
                </a:solidFill>
              </a:rPr>
              <a:t>Dịch vụ đang sử dụng</a:t>
            </a:r>
          </a:p>
          <a:p>
            <a:r>
              <a:rPr lang="en-US" sz="600" b="1">
                <a:solidFill>
                  <a:schemeClr val="tx1"/>
                </a:solidFill>
              </a:rPr>
              <a:t>8</a:t>
            </a:r>
            <a:endParaRPr lang="en-US" sz="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827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2A176-87CA-674E-546D-45693F216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4005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</TotalTime>
  <Words>2267</Words>
  <Application>Microsoft Office PowerPoint</Application>
  <PresentationFormat>Widescreen</PresentationFormat>
  <Paragraphs>551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Đinh Vu</dc:creator>
  <cp:lastModifiedBy>Đinh Vu</cp:lastModifiedBy>
  <cp:revision>243</cp:revision>
  <dcterms:created xsi:type="dcterms:W3CDTF">2025-11-11T02:33:45Z</dcterms:created>
  <dcterms:modified xsi:type="dcterms:W3CDTF">2025-11-13T09:16:30Z</dcterms:modified>
</cp:coreProperties>
</file>